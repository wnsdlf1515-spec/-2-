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일자리 우선 · 검증 예시</c:v>
                </c:pt>
              </c:strCache>
            </c:strRef>
          </c:tx>
          <c:spPr>
            <a:ln w="38100">
              <a:solidFill>
                <a:srgbClr val="345F49"/>
              </a:solidFill>
            </a:ln>
          </c:spPr>
          <c:cat>
            <c:strRef>
              <c:f>Sheet1!$A$2:$A$10</c:f>
              <c:strCache>
                <c:ptCount val="9"/>
                <c:pt idx="0">
                  <c:v>0턴</c:v>
                </c:pt>
                <c:pt idx="1">
                  <c:v>1턴</c:v>
                </c:pt>
                <c:pt idx="2">
                  <c:v>2턴</c:v>
                </c:pt>
                <c:pt idx="3">
                  <c:v>3턴</c:v>
                </c:pt>
                <c:pt idx="4">
                  <c:v>4턴</c:v>
                </c:pt>
                <c:pt idx="5">
                  <c:v>5턴</c:v>
                </c:pt>
                <c:pt idx="6">
                  <c:v>6턴</c:v>
                </c:pt>
                <c:pt idx="7">
                  <c:v>7턴</c:v>
                </c:pt>
                <c:pt idx="8">
                  <c:v>8턴</c:v>
                </c:pt>
              </c:strCache>
            </c:strRef>
          </c:cat>
          <c:val>
            <c:numRef>
              <c:f>Sheet1!$B$2:$B$10</c:f>
              <c:numCache>
                <c:formatCode>General</c:formatCode>
                <c:ptCount val="9"/>
                <c:pt idx="0">
                  <c:v>69.0</c:v>
                </c:pt>
                <c:pt idx="1">
                  <c:v>67.8</c:v>
                </c:pt>
                <c:pt idx="2">
                  <c:v>67.2</c:v>
                </c:pt>
                <c:pt idx="3">
                  <c:v>67.0</c:v>
                </c:pt>
                <c:pt idx="4">
                  <c:v>67.2</c:v>
                </c:pt>
                <c:pt idx="5">
                  <c:v>67.0</c:v>
                </c:pt>
                <c:pt idx="6">
                  <c:v>67.0</c:v>
                </c:pt>
                <c:pt idx="7">
                  <c:v>67.6</c:v>
                </c:pt>
                <c:pt idx="8">
                  <c:v>67.2</c:v>
                </c:pt>
              </c:numCache>
            </c:numRef>
          </c:val>
          <c:smooth val="0"/>
        </c:ser>
        <c:ser>
          <c:idx val="1"/>
          <c:order val="1"/>
          <c:tx>
            <c:strRef>
              <c:f>Sheet1!$C$1</c:f>
              <c:strCache>
                <c:ptCount val="1"/>
                <c:pt idx="0">
                  <c:v>돌봄 우선 · 검증 예시</c:v>
                </c:pt>
              </c:strCache>
            </c:strRef>
          </c:tx>
          <c:spPr>
            <a:ln w="38100">
              <a:solidFill>
                <a:srgbClr val="A65A43"/>
              </a:solidFill>
            </a:ln>
          </c:spPr>
          <c:cat>
            <c:strRef>
              <c:f>Sheet1!$A$2:$A$10</c:f>
              <c:strCache>
                <c:ptCount val="9"/>
                <c:pt idx="0">
                  <c:v>0턴</c:v>
                </c:pt>
                <c:pt idx="1">
                  <c:v>1턴</c:v>
                </c:pt>
                <c:pt idx="2">
                  <c:v>2턴</c:v>
                </c:pt>
                <c:pt idx="3">
                  <c:v>3턴</c:v>
                </c:pt>
                <c:pt idx="4">
                  <c:v>4턴</c:v>
                </c:pt>
                <c:pt idx="5">
                  <c:v>5턴</c:v>
                </c:pt>
                <c:pt idx="6">
                  <c:v>6턴</c:v>
                </c:pt>
                <c:pt idx="7">
                  <c:v>7턴</c:v>
                </c:pt>
                <c:pt idx="8">
                  <c:v>8턴</c:v>
                </c:pt>
              </c:strCache>
            </c:strRef>
          </c:cat>
          <c:val>
            <c:numRef>
              <c:f>Sheet1!$C$2:$C$10</c:f>
              <c:numCache>
                <c:formatCode>General</c:formatCode>
                <c:ptCount val="9"/>
                <c:pt idx="0">
                  <c:v>69.0</c:v>
                </c:pt>
                <c:pt idx="1">
                  <c:v>87.9</c:v>
                </c:pt>
                <c:pt idx="2">
                  <c:v>86.8</c:v>
                </c:pt>
                <c:pt idx="3">
                  <c:v>86.4</c:v>
                </c:pt>
                <c:pt idx="4">
                  <c:v>85.9</c:v>
                </c:pt>
                <c:pt idx="5">
                  <c:v>88.3</c:v>
                </c:pt>
                <c:pt idx="6">
                  <c:v>87.7</c:v>
                </c:pt>
                <c:pt idx="7">
                  <c:v>87.7</c:v>
                </c:pt>
                <c:pt idx="8">
                  <c:v>87.2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400">
                <a:latin typeface="Noto Sans CJK KR"/>
              </a:defRPr>
            </a:pPr>
          </a:p>
        </c:txPr>
        <c:crossAx val="2140495176"/>
        <c:crosses val="autoZero"/>
        <c:auto val="1"/>
        <c:lblAlgn val="ctr"/>
        <c:lblOffset val="100"/>
        <c:noMultiLvlLbl val="0"/>
      </c:catAx>
      <c:valAx>
        <c:axId val="2140495176"/>
        <c:scaling>
          <c:max val="100.0"/>
          <c:min val="0.0"/>
        </c:scaling>
        <c:delete val="0"/>
        <c:axPos val="l"/>
        <c:majorGridlines/>
        <c:majorTickMark val="out"/>
        <c:minorTickMark val="none"/>
        <c:tickLblPos val="nextTo"/>
        <c:txPr>
          <a:bodyPr/>
          <a:lstStyle/>
          <a:p>
            <a:pPr>
              <a:defRPr sz="1400">
                <a:latin typeface="Noto Sans CJK KR"/>
              </a:defRPr>
            </a:pPr>
          </a:p>
        </c:txPr>
        <c:crossAx val="2118791784"/>
        <c:crosses val="autoZero"/>
        <c:majorUnit val="25.0"/>
      </c:valAx>
    </c:plotArea>
    <c:legend>
      <c:legendPos val="b"/>
      <c:layout/>
      <c:overlay val="0"/>
      <c:txPr>
        <a:bodyPr/>
        <a:lstStyle/>
        <a:p>
          <a:pPr>
            <a:defRPr sz="1400">
              <a:latin typeface="Noto Sans CJK KR"/>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도입 1분. 질문만 먼저 제시하고 찬성·반대 손들기 또는 짝 대화로 생각을 드러낸다. 정답을 확정하지 않는다. 수업 후 같은 질문으로 돌아온다. 총 17장 중 16~17장은 참고용이다.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도입 2분. 아래는 토의용 가상 사례로 실제 통계나 게임 결과가 아니다. A는 인구·취업 증가에 강점, B는 돌봄에 강점이 있다. 어느 하나를 정답으로 정하지 않는다. 학생이 선택한 기준과 남은 문제를 질문한다.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안내 30초. 게임 승패나 인구 증가량을 점수로 평가하지 않는다. 근거 있는 문제 발견, 선택의 효과와 한계, 지속가능성을 관찰한다.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확인 1분. 총인구는 규모, 인구 증감은 기간 중 변화다. 예시는 계산 연습용 가상 수치이며 실제 한국 인구 통계나 게임 출생률이 아니다. 여유가 있으면 40명 증가의 이유를 설명하게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사진에 제시된 인구 과잉, 저출생·고령화, 지역 격차를 재구성했다. 공급 부족을 인구수 자체의 문제로만 보지 않는다. 국가별 차이가 있으므로 개발도상국/선진국을 고정적으로 구분하지 않는다. 게임의 세 시나리오는 이런 조건을 단순화한 가상 도시다.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슬라이드. 사전 학습을 마쳤다면 생략 가능. 저출생을 여성의 사회 참여 탓으로 단정하지 않는다. 고령화는 낮은 출생 수준과 수명 연장 등이 관련된다. 고령 주민은 부담만이 아닌 권리와 경험의 주체다. 첨부 사진의 2018년 고령사회 진입은 과거 서술이며 현재 단계의 최신 통계를 확인한 자료가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인과 슬라이드 1분. 카드 조합 보너스가 아니라 부족한 조건을 해결하는 과정이다. 주택 공급과 입주, 일자리 수와 취업, 시설 정원과 실제 이용을 구분한다. 정책의 효과가 무조건 즉시 인구 증가로 이어진다고 설명하지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 사진의 세대 간 정의, 양성평등 의식, 가족 친화적 직장 문화, 노인의 경험과 지혜 존중을 토론 기준으로 재구성했다. 게임에 모두 별도 수치로 구현된 것은 아님을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 진입 안내. 교사가 동일 시나리오·목표·시드로 방을 만든다. 한 조에 조작 기기 하나를 권장한다. 동일 시드라도 정책과 도시 상태에 따라 사건은 달라질 수 있다. 단일 도시 공동 편집 모드가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교사 실제 게임 시연과 함께 사용한다. 화면은 개발 검증용 예시이며 학생 실제 결과가 아니다. 원본 게임 화면 글씨를 PPT에서 모두 읽기보다 우측 세 가지 위치를 짚어 주고 실제 브라우저에서 시연한다.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검토 창을 실제로 열어 짧게 시연한다. 투자비는 시행 시, 유지비는 운영 후 결산에 반영된다. 공급량과 인구 전망의 성격이 다르다는 점을 강조한다. 같은 대상의 중복 투자와 연간 사업 제한도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교사 PC 서버를 실행한 뒤 실제 학생 접속 주소를 편집한다. 참가 코드는 방 생성 후 입력하거나 교사 화면을 함께 띄운다. 예전 GitHub Pages 개인용 주소로 접속하면 집계되지 않는다. 교사용 생성 암호는 화면에 쓰거나 학생에게 공유하지 않는다. 학생은 수업방 시작 전 기다린다. 활동 시간 약23분, 미완료 조는 현재 턴으로 근거를 기록하도록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4턴 무렵 필요할 때만 전체 일시정지하고 사용한다. 모든 조에 새로운 정책을 강요하지 않는다. 비교 시 서비스 충족률의 분모인 수요도 확인하게 한다. 역할 교대를 안내하고 충분히 관찰할 시간을 준다.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 후 실제 교사 대시보드로 대체하는 것을 권장한다. 이 차트는 자동화 검증에서 일자리 또는 돌봄 사업1개를 선택한 두 경로의 실제 결과다. 각 턴 사건에는 무료 대응을 했으며 모두 동일 기본 시나리오·목표·시드2026. 두 경로 모두 목표를 달성한 모범 전략이 아니다. 정책 한 가지의 일반적인 인과 효과나 실제 지역 통계로 해석하지 않는다. 공급·수요·취업·재정도 함께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5분. 발표는 주장-근거-이유-한계 순서로 받는다. 게임 목표 미달 조도 근거를 갖춘 설명이면 학습 성취로 인정한다. 마지막 질문은 게임에서 생략한 원인과 권리를 현실에 연결하기 위한 것이며 별도 퀴즈가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학생이 정책을 고를 때 참고용으로만 사용한다. 6개 정책의 투자비/준비 기간/연간 유지비를 엔진에서 직접 읽어 구성했다. 의료·이동과 정착 연결은 도시 전체에, 나머지는 대상 생활권에 적용된다. 실효 공급과 실제 이용은 다르다. 유지비 -2는 연간2억 절감이라는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수업 전 교사가 확인하는 참고 슬라이드. 학생에게 길게 읽힐 필요는 없다. 사용자 제공 사진 내용을 요약·재구성했으며 원본 사진과 교사용 교과서 PDF를 배포하지 않는다. 교과서 PDF는32MB 전송 한도로 열지 못했으므로 쪽수/도표를 확인한 것처럼 기재하지 않았다. 자료 개정 시 관련 쪽을 확인해야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문제 제시</a:t>
            </a:r>
          </a:p>
        </p:txBody>
      </p:sp>
      <p:sp>
        <p:nvSpPr>
          <p:cNvPr id="4" name="TextBox 3"/>
          <p:cNvSpPr txBox="1"/>
          <p:nvPr/>
        </p:nvSpPr>
        <p:spPr>
          <a:xfrm>
            <a:off x="502920" y="804672"/>
            <a:ext cx="11155680" cy="137160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인구가 줄어도,</a:t>
            </a:r>
          </a:p>
          <a:p>
            <a:pPr>
              <a:spcAft>
                <a:spcPts val="700"/>
              </a:spcAft>
              <a:defRPr sz="3200" b="1">
                <a:solidFill>
                  <a:srgbClr val="213C33"/>
                </a:solidFill>
                <a:latin typeface="Noto Sans CJK KR"/>
              </a:defRPr>
            </a:pPr>
            <a:r>
              <a:t>살기 좋은 도시가 될 수 있을까?</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a:t>
            </a:r>
          </a:p>
        </p:txBody>
      </p:sp>
      <p:sp>
        <p:nvSpPr>
          <p:cNvPr id="8" name="TextBox 7"/>
          <p:cNvSpPr txBox="1"/>
          <p:nvPr/>
        </p:nvSpPr>
        <p:spPr>
          <a:xfrm>
            <a:off x="640080" y="2743200"/>
            <a:ext cx="7040880" cy="1234440"/>
          </a:xfrm>
          <a:prstGeom prst="rect">
            <a:avLst/>
          </a:prstGeom>
          <a:noFill/>
        </p:spPr>
        <p:txBody>
          <a:bodyPr wrap="square" lIns="27432" rIns="27432" tIns="0" bIns="0">
            <a:spAutoFit/>
          </a:bodyPr>
          <a:lstStyle/>
          <a:p>
            <a:pPr>
              <a:spcAft>
                <a:spcPts val="700"/>
              </a:spcAft>
              <a:defRPr sz="2700" b="0">
                <a:solidFill>
                  <a:srgbClr val="213C33"/>
                </a:solidFill>
                <a:latin typeface="Noto Sans CJK KR"/>
              </a:defRPr>
            </a:pPr>
            <a:r>
              <a:t>같은 도시에서 출발합니다.</a:t>
            </a:r>
          </a:p>
          <a:p>
            <a:pPr>
              <a:spcAft>
                <a:spcPts val="700"/>
              </a:spcAft>
              <a:defRPr sz="2700" b="0">
                <a:solidFill>
                  <a:srgbClr val="213C33"/>
                </a:solidFill>
                <a:latin typeface="Noto Sans CJK KR"/>
              </a:defRPr>
            </a:pPr>
            <a:r>
              <a:t>어디에 무엇을 먼저 투자할까요?</a:t>
            </a:r>
          </a:p>
        </p:txBody>
      </p:sp>
      <p:sp>
        <p:nvSpPr>
          <p:cNvPr id="9" name="Rectangle 8"/>
          <p:cNvSpPr/>
          <p:nvPr/>
        </p:nvSpPr>
        <p:spPr>
          <a:xfrm>
            <a:off x="8229600" y="2560320"/>
            <a:ext cx="3154680" cy="224028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2788920"/>
            <a:ext cx="2743200" cy="685800"/>
          </a:xfrm>
          <a:prstGeom prst="rect">
            <a:avLst/>
          </a:prstGeom>
          <a:noFill/>
        </p:spPr>
        <p:txBody>
          <a:bodyPr wrap="square" lIns="27432" rIns="27432" tIns="0" bIns="0">
            <a:spAutoFit/>
          </a:bodyPr>
          <a:lstStyle/>
          <a:p>
            <a:pPr>
              <a:spcAft>
                <a:spcPts val="700"/>
              </a:spcAft>
              <a:defRPr sz="3200" b="1">
                <a:solidFill>
                  <a:srgbClr val="FFFFFF"/>
                </a:solidFill>
                <a:latin typeface="Noto Sans CJK KR"/>
              </a:defRPr>
            </a:pPr>
            <a:r>
              <a:t>8년의 선택</a:t>
            </a:r>
          </a:p>
        </p:txBody>
      </p:sp>
      <p:sp>
        <p:nvSpPr>
          <p:cNvPr id="11" name="TextBox 10"/>
          <p:cNvSpPr txBox="1"/>
          <p:nvPr/>
        </p:nvSpPr>
        <p:spPr>
          <a:xfrm>
            <a:off x="8458200" y="3703320"/>
            <a:ext cx="2743200" cy="914400"/>
          </a:xfrm>
          <a:prstGeom prst="rect">
            <a:avLst/>
          </a:prstGeom>
          <a:noFill/>
        </p:spPr>
        <p:txBody>
          <a:bodyPr wrap="square" lIns="27432" rIns="27432" tIns="0" bIns="0">
            <a:spAutoFit/>
          </a:bodyPr>
          <a:lstStyle/>
          <a:p>
            <a:pPr>
              <a:spcAft>
                <a:spcPts val="700"/>
              </a:spcAft>
              <a:defRPr sz="2200" b="0">
                <a:solidFill>
                  <a:srgbClr val="FFFFFF"/>
                </a:solidFill>
                <a:latin typeface="Noto Sans CJK KR"/>
              </a:defRPr>
            </a:pPr>
            <a:r>
              <a:t>주거 · 일자리</a:t>
            </a:r>
          </a:p>
          <a:p>
            <a:pPr>
              <a:spcAft>
                <a:spcPts val="700"/>
              </a:spcAft>
              <a:defRPr sz="2200" b="0">
                <a:solidFill>
                  <a:srgbClr val="FFFFFF"/>
                </a:solidFill>
                <a:latin typeface="Noto Sans CJK KR"/>
              </a:defRPr>
            </a:pPr>
            <a:r>
              <a:t>돌봄 · 생활서비스</a:t>
            </a:r>
          </a:p>
        </p:txBody>
      </p:sp>
      <p:sp>
        <p:nvSpPr>
          <p:cNvPr id="12" name="Rectangle 11"/>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300" b="1">
                <a:solidFill>
                  <a:srgbClr val="FFFFFF"/>
                </a:solidFill>
                <a:latin typeface="Noto Sans CJK KR"/>
              </a:defRPr>
            </a:pPr>
            <a:r>
              <a:t>오늘의 과제: 내가 만든 도시의 변화와 그 이유를 설명하기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문제 제시</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여러분이라면 어느 도시를 선택하겠습니까?</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2</a:t>
            </a:r>
          </a:p>
        </p:txBody>
      </p:sp>
      <p:sp>
        <p:nvSpPr>
          <p:cNvPr id="8" name="Rectangle 7"/>
          <p:cNvSpPr/>
          <p:nvPr/>
        </p:nvSpPr>
        <p:spPr>
          <a:xfrm>
            <a:off x="548640" y="1828800"/>
            <a:ext cx="5376672" cy="31546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84248"/>
            <a:ext cx="5010912"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도시 A</a:t>
            </a:r>
          </a:p>
        </p:txBody>
      </p:sp>
      <p:sp>
        <p:nvSpPr>
          <p:cNvPr id="10" name="TextBox 9"/>
          <p:cNvSpPr txBox="1"/>
          <p:nvPr/>
        </p:nvSpPr>
        <p:spPr>
          <a:xfrm>
            <a:off x="731520" y="2441448"/>
            <a:ext cx="5010912"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사람과 일자리가 늘어나는 도시</a:t>
            </a:r>
          </a:p>
        </p:txBody>
      </p:sp>
      <p:sp>
        <p:nvSpPr>
          <p:cNvPr id="11" name="TextBox 10"/>
          <p:cNvSpPr txBox="1"/>
          <p:nvPr/>
        </p:nvSpPr>
        <p:spPr>
          <a:xfrm>
            <a:off x="731520" y="3520440"/>
            <a:ext cx="5010912" cy="1371600"/>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인구  10,000 → 10,200명</a:t>
            </a:r>
          </a:p>
          <a:p>
            <a:pPr>
              <a:spcAft>
                <a:spcPts val="700"/>
              </a:spcAft>
              <a:defRPr sz="2300" b="0">
                <a:solidFill>
                  <a:srgbClr val="213C33"/>
                </a:solidFill>
                <a:latin typeface="Noto Sans CJK KR"/>
              </a:defRPr>
            </a:pPr>
            <a:r>
              <a:t>취업  +120명</a:t>
            </a:r>
          </a:p>
          <a:p>
            <a:pPr>
              <a:spcAft>
                <a:spcPts val="700"/>
              </a:spcAft>
              <a:defRPr sz="2300" b="0">
                <a:solidFill>
                  <a:srgbClr val="213C33"/>
                </a:solidFill>
                <a:latin typeface="Noto Sans CJK KR"/>
              </a:defRPr>
            </a:pPr>
            <a:r>
              <a:t>돌봄 수요 충족  65%</a:t>
            </a:r>
          </a:p>
        </p:txBody>
      </p:sp>
      <p:sp>
        <p:nvSpPr>
          <p:cNvPr id="12" name="Rectangle 11"/>
          <p:cNvSpPr/>
          <p:nvPr/>
        </p:nvSpPr>
        <p:spPr>
          <a:xfrm>
            <a:off x="6126480" y="1828800"/>
            <a:ext cx="5486400" cy="31546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984248"/>
            <a:ext cx="512064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도시 B</a:t>
            </a:r>
          </a:p>
        </p:txBody>
      </p:sp>
      <p:sp>
        <p:nvSpPr>
          <p:cNvPr id="14" name="TextBox 13"/>
          <p:cNvSpPr txBox="1"/>
          <p:nvPr/>
        </p:nvSpPr>
        <p:spPr>
          <a:xfrm>
            <a:off x="6309360" y="2441448"/>
            <a:ext cx="512064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돌봄이 가까워지는 도시</a:t>
            </a:r>
          </a:p>
        </p:txBody>
      </p:sp>
      <p:sp>
        <p:nvSpPr>
          <p:cNvPr id="15" name="TextBox 14"/>
          <p:cNvSpPr txBox="1"/>
          <p:nvPr/>
        </p:nvSpPr>
        <p:spPr>
          <a:xfrm>
            <a:off x="6309360" y="3520440"/>
            <a:ext cx="5120640" cy="1371600"/>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인구  10,000 → 9,700명</a:t>
            </a:r>
          </a:p>
          <a:p>
            <a:pPr>
              <a:spcAft>
                <a:spcPts val="700"/>
              </a:spcAft>
              <a:defRPr sz="2300" b="0">
                <a:solidFill>
                  <a:srgbClr val="213C33"/>
                </a:solidFill>
                <a:latin typeface="Noto Sans CJK KR"/>
              </a:defRPr>
            </a:pPr>
            <a:r>
              <a:t>취업  −30명</a:t>
            </a:r>
          </a:p>
          <a:p>
            <a:pPr>
              <a:spcAft>
                <a:spcPts val="700"/>
              </a:spcAft>
              <a:defRPr sz="2300" b="0">
                <a:solidFill>
                  <a:srgbClr val="213C33"/>
                </a:solidFill>
                <a:latin typeface="Noto Sans CJK KR"/>
              </a:defRPr>
            </a:pPr>
            <a:r>
              <a:t>돌봄 수요 충족  90%</a:t>
            </a:r>
          </a:p>
        </p:txBody>
      </p:sp>
      <p:sp>
        <p:nvSpPr>
          <p:cNvPr id="16" name="TextBox 15"/>
          <p:cNvSpPr txBox="1"/>
          <p:nvPr/>
        </p:nvSpPr>
        <p:spPr>
          <a:xfrm>
            <a:off x="640080" y="5093208"/>
            <a:ext cx="10972800" cy="320040"/>
          </a:xfrm>
          <a:prstGeom prst="rect">
            <a:avLst/>
          </a:prstGeom>
          <a:noFill/>
        </p:spPr>
        <p:txBody>
          <a:bodyPr wrap="square" lIns="27432" rIns="27432" tIns="0" bIns="0">
            <a:spAutoFit/>
          </a:bodyPr>
          <a:lstStyle/>
          <a:p>
            <a:pPr>
              <a:spcAft>
                <a:spcPts val="700"/>
              </a:spcAft>
              <a:defRPr sz="1400" b="0">
                <a:solidFill>
                  <a:srgbClr val="637666"/>
                </a:solidFill>
                <a:latin typeface="Noto Sans CJK KR"/>
              </a:defRPr>
            </a:pPr>
            <a:r>
              <a:t>토의용 가상 사례입니다. 실제 통계·게임 결과가 아닙니다.</a:t>
            </a:r>
          </a:p>
        </p:txBody>
      </p:sp>
      <p:sp>
        <p:nvSpPr>
          <p:cNvPr id="17" name="Rectangle 16"/>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300" b="1">
                <a:solidFill>
                  <a:srgbClr val="FFFFFF"/>
                </a:solidFill>
                <a:latin typeface="Noto Sans CJK KR"/>
              </a:defRPr>
            </a:pPr>
            <a:r>
              <a:t>무엇을 기준으로 골랐나요? 아직 알 수 없는 정보는 무엇인가요?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학습 목표</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“잘 운영했다”는 것을 근거로 설명하기</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3</a:t>
            </a:r>
          </a:p>
        </p:txBody>
      </p:sp>
      <p:sp>
        <p:nvSpPr>
          <p:cNvPr id="8" name="Rectangle 7"/>
          <p:cNvSpPr/>
          <p:nvPr/>
        </p:nvSpPr>
        <p:spPr>
          <a:xfrm>
            <a:off x="548640" y="1874519"/>
            <a:ext cx="3566160" cy="3520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29967"/>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01</a:t>
            </a:r>
          </a:p>
        </p:txBody>
      </p:sp>
      <p:sp>
        <p:nvSpPr>
          <p:cNvPr id="10" name="TextBox 9"/>
          <p:cNvSpPr txBox="1"/>
          <p:nvPr/>
        </p:nvSpPr>
        <p:spPr>
          <a:xfrm>
            <a:off x="731520" y="2487168"/>
            <a:ext cx="32004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문제 발견</a:t>
            </a:r>
          </a:p>
        </p:txBody>
      </p:sp>
      <p:sp>
        <p:nvSpPr>
          <p:cNvPr id="11" name="TextBox 10"/>
          <p:cNvSpPr txBox="1"/>
          <p:nvPr/>
        </p:nvSpPr>
        <p:spPr>
          <a:xfrm>
            <a:off x="731520" y="3566160"/>
            <a:ext cx="3200400" cy="1737360"/>
          </a:xfrm>
          <a:prstGeom prst="rect">
            <a:avLst/>
          </a:prstGeom>
          <a:noFill/>
        </p:spPr>
        <p:txBody>
          <a:bodyPr wrap="square" lIns="27432" rIns="27432" tIns="0" bIns="0">
            <a:spAutoFit/>
          </a:bodyPr>
          <a:lstStyle/>
          <a:p>
            <a:pPr>
              <a:spcAft>
                <a:spcPts val="700"/>
              </a:spcAft>
              <a:defRPr sz="2100" b="0">
                <a:solidFill>
                  <a:srgbClr val="213C33"/>
                </a:solidFill>
                <a:latin typeface="Noto Sans CJK KR"/>
              </a:defRPr>
            </a:pPr>
            <a:r>
              <a:t>지역의 지표와 지도를 보고</a:t>
            </a:r>
          </a:p>
          <a:p>
            <a:pPr>
              <a:spcAft>
                <a:spcPts val="700"/>
              </a:spcAft>
              <a:defRPr sz="2100" b="0">
                <a:solidFill>
                  <a:srgbClr val="213C33"/>
                </a:solidFill>
                <a:latin typeface="Noto Sans CJK KR"/>
              </a:defRPr>
            </a:pPr>
            <a:r>
              <a:t>무엇이 부족한지 찾는다.</a:t>
            </a:r>
          </a:p>
        </p:txBody>
      </p:sp>
      <p:sp>
        <p:nvSpPr>
          <p:cNvPr id="12" name="Rectangle 11"/>
          <p:cNvSpPr/>
          <p:nvPr/>
        </p:nvSpPr>
        <p:spPr>
          <a:xfrm>
            <a:off x="4297679" y="1874519"/>
            <a:ext cx="3566160" cy="3520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2029967"/>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02</a:t>
            </a:r>
          </a:p>
        </p:txBody>
      </p:sp>
      <p:sp>
        <p:nvSpPr>
          <p:cNvPr id="14" name="TextBox 13"/>
          <p:cNvSpPr txBox="1"/>
          <p:nvPr/>
        </p:nvSpPr>
        <p:spPr>
          <a:xfrm>
            <a:off x="4480559" y="2487168"/>
            <a:ext cx="32004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선택과 결과</a:t>
            </a:r>
          </a:p>
        </p:txBody>
      </p:sp>
      <p:sp>
        <p:nvSpPr>
          <p:cNvPr id="15" name="TextBox 14"/>
          <p:cNvSpPr txBox="1"/>
          <p:nvPr/>
        </p:nvSpPr>
        <p:spPr>
          <a:xfrm>
            <a:off x="4480559" y="3566160"/>
            <a:ext cx="3200400" cy="1737360"/>
          </a:xfrm>
          <a:prstGeom prst="rect">
            <a:avLst/>
          </a:prstGeom>
          <a:noFill/>
        </p:spPr>
        <p:txBody>
          <a:bodyPr wrap="square" lIns="27432" rIns="27432" tIns="0" bIns="0">
            <a:spAutoFit/>
          </a:bodyPr>
          <a:lstStyle/>
          <a:p>
            <a:pPr>
              <a:spcAft>
                <a:spcPts val="700"/>
              </a:spcAft>
              <a:defRPr sz="2100" b="0">
                <a:solidFill>
                  <a:srgbClr val="213C33"/>
                </a:solidFill>
                <a:latin typeface="Noto Sans CJK KR"/>
              </a:defRPr>
            </a:pPr>
            <a:r>
              <a:t>정책 전후 수치를 비교해</a:t>
            </a:r>
          </a:p>
          <a:p>
            <a:pPr>
              <a:spcAft>
                <a:spcPts val="700"/>
              </a:spcAft>
              <a:defRPr sz="2100" b="0">
                <a:solidFill>
                  <a:srgbClr val="213C33"/>
                </a:solidFill>
                <a:latin typeface="Noto Sans CJK KR"/>
              </a:defRPr>
            </a:pPr>
            <a:r>
              <a:t>효과와 제한 조건을 설명한다.</a:t>
            </a:r>
          </a:p>
        </p:txBody>
      </p:sp>
      <p:sp>
        <p:nvSpPr>
          <p:cNvPr id="16" name="Rectangle 15"/>
          <p:cNvSpPr/>
          <p:nvPr/>
        </p:nvSpPr>
        <p:spPr>
          <a:xfrm>
            <a:off x="8046719" y="1874519"/>
            <a:ext cx="3566160" cy="3520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029967"/>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03</a:t>
            </a:r>
          </a:p>
        </p:txBody>
      </p:sp>
      <p:sp>
        <p:nvSpPr>
          <p:cNvPr id="18" name="TextBox 17"/>
          <p:cNvSpPr txBox="1"/>
          <p:nvPr/>
        </p:nvSpPr>
        <p:spPr>
          <a:xfrm>
            <a:off x="8229599" y="2487168"/>
            <a:ext cx="32004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지속가능성</a:t>
            </a:r>
          </a:p>
        </p:txBody>
      </p:sp>
      <p:sp>
        <p:nvSpPr>
          <p:cNvPr id="19" name="TextBox 18"/>
          <p:cNvSpPr txBox="1"/>
          <p:nvPr/>
        </p:nvSpPr>
        <p:spPr>
          <a:xfrm>
            <a:off x="8229599" y="3566160"/>
            <a:ext cx="3200400" cy="1737360"/>
          </a:xfrm>
          <a:prstGeom prst="rect">
            <a:avLst/>
          </a:prstGeom>
          <a:noFill/>
        </p:spPr>
        <p:txBody>
          <a:bodyPr wrap="square" lIns="27432" rIns="27432" tIns="0" bIns="0">
            <a:spAutoFit/>
          </a:bodyPr>
          <a:lstStyle/>
          <a:p>
            <a:pPr>
              <a:spcAft>
                <a:spcPts val="700"/>
              </a:spcAft>
              <a:defRPr sz="2100" b="0">
                <a:solidFill>
                  <a:srgbClr val="213C33"/>
                </a:solidFill>
                <a:latin typeface="Noto Sans CJK KR"/>
              </a:defRPr>
            </a:pPr>
            <a:r>
              <a:t>인구 증가와 생활 여건을</a:t>
            </a:r>
          </a:p>
          <a:p>
            <a:pPr>
              <a:spcAft>
                <a:spcPts val="700"/>
              </a:spcAft>
              <a:defRPr sz="2100" b="0">
                <a:solidFill>
                  <a:srgbClr val="213C33"/>
                </a:solidFill>
                <a:latin typeface="Noto Sans CJK KR"/>
              </a:defRPr>
            </a:pPr>
            <a:r>
              <a:t>함께 고려해 대안을 제안한다.</a:t>
            </a:r>
          </a:p>
        </p:txBody>
      </p:sp>
      <p:sp>
        <p:nvSpPr>
          <p:cNvPr id="20" name="Rectangle 19"/>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200" b="1">
                <a:solidFill>
                  <a:srgbClr val="FFFFFF"/>
                </a:solidFill>
                <a:latin typeface="Noto Sans CJK KR"/>
              </a:defRPr>
            </a:pPr>
            <a:r>
              <a:t>핵심 문장: “우리는 ○○를 선택했고, △△ 조건이 바뀌었습니다.”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학습 정보</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인구 변화에는 두 가지 흐름이 있습니다</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4</a:t>
            </a:r>
          </a:p>
        </p:txBody>
      </p:sp>
      <p:sp>
        <p:nvSpPr>
          <p:cNvPr id="8" name="TextBox 7"/>
          <p:cNvSpPr txBox="1"/>
          <p:nvPr/>
        </p:nvSpPr>
        <p:spPr>
          <a:xfrm>
            <a:off x="640080" y="1783080"/>
            <a:ext cx="10972800" cy="640080"/>
          </a:xfrm>
          <a:prstGeom prst="rect">
            <a:avLst/>
          </a:prstGeom>
          <a:noFill/>
        </p:spPr>
        <p:txBody>
          <a:bodyPr wrap="square" lIns="27432" rIns="27432" tIns="0" bIns="0">
            <a:spAutoFit/>
          </a:bodyPr>
          <a:lstStyle/>
          <a:p>
            <a:pPr>
              <a:spcAft>
                <a:spcPts val="700"/>
              </a:spcAft>
              <a:defRPr sz="3100" b="1">
                <a:solidFill>
                  <a:srgbClr val="213C33"/>
                </a:solidFill>
                <a:latin typeface="Noto Sans CJK KR"/>
              </a:defRPr>
            </a:pPr>
            <a:r>
              <a:t>인구 증감 = 자연적 증감 + 사회적 증감</a:t>
            </a:r>
          </a:p>
        </p:txBody>
      </p:sp>
      <p:sp>
        <p:nvSpPr>
          <p:cNvPr id="9" name="Rectangle 8"/>
          <p:cNvSpPr/>
          <p:nvPr/>
        </p:nvSpPr>
        <p:spPr>
          <a:xfrm>
            <a:off x="548640" y="2697480"/>
            <a:ext cx="5394960" cy="2377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852928"/>
            <a:ext cx="50292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자연적 증감</a:t>
            </a:r>
          </a:p>
        </p:txBody>
      </p:sp>
      <p:sp>
        <p:nvSpPr>
          <p:cNvPr id="11" name="TextBox 10"/>
          <p:cNvSpPr txBox="1"/>
          <p:nvPr/>
        </p:nvSpPr>
        <p:spPr>
          <a:xfrm>
            <a:off x="731520" y="3310128"/>
            <a:ext cx="50292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출생 − 사망</a:t>
            </a:r>
          </a:p>
        </p:txBody>
      </p:sp>
      <p:sp>
        <p:nvSpPr>
          <p:cNvPr id="12" name="TextBox 11"/>
          <p:cNvSpPr txBox="1"/>
          <p:nvPr/>
        </p:nvSpPr>
        <p:spPr>
          <a:xfrm>
            <a:off x="731520" y="4389120"/>
            <a:ext cx="5029200" cy="594360"/>
          </a:xfrm>
          <a:prstGeom prst="rect">
            <a:avLst/>
          </a:prstGeom>
          <a:noFill/>
        </p:spPr>
        <p:txBody>
          <a:bodyPr wrap="square" lIns="27432" rIns="27432" tIns="0" bIns="0">
            <a:spAutoFit/>
          </a:bodyPr>
          <a:lstStyle/>
          <a:p>
            <a:pPr>
              <a:spcAft>
                <a:spcPts val="700"/>
              </a:spcAft>
              <a:defRPr sz="2400" b="0">
                <a:solidFill>
                  <a:srgbClr val="213C33"/>
                </a:solidFill>
                <a:latin typeface="Noto Sans CJK KR"/>
              </a:defRPr>
            </a:pPr>
            <a:r>
              <a:t>예: 70 − 110 = −40명</a:t>
            </a:r>
          </a:p>
        </p:txBody>
      </p:sp>
      <p:sp>
        <p:nvSpPr>
          <p:cNvPr id="13" name="Rectangle 12"/>
          <p:cNvSpPr/>
          <p:nvPr/>
        </p:nvSpPr>
        <p:spPr>
          <a:xfrm>
            <a:off x="6172200" y="2697480"/>
            <a:ext cx="5440680" cy="2377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852928"/>
            <a:ext cx="507492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사회적 증감</a:t>
            </a:r>
          </a:p>
        </p:txBody>
      </p:sp>
      <p:sp>
        <p:nvSpPr>
          <p:cNvPr id="15" name="TextBox 14"/>
          <p:cNvSpPr txBox="1"/>
          <p:nvPr/>
        </p:nvSpPr>
        <p:spPr>
          <a:xfrm>
            <a:off x="6355080" y="3310128"/>
            <a:ext cx="507492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전입 − 전출</a:t>
            </a:r>
          </a:p>
        </p:txBody>
      </p:sp>
      <p:sp>
        <p:nvSpPr>
          <p:cNvPr id="16" name="TextBox 15"/>
          <p:cNvSpPr txBox="1"/>
          <p:nvPr/>
        </p:nvSpPr>
        <p:spPr>
          <a:xfrm>
            <a:off x="6355080" y="4389120"/>
            <a:ext cx="5074920" cy="594360"/>
          </a:xfrm>
          <a:prstGeom prst="rect">
            <a:avLst/>
          </a:prstGeom>
          <a:noFill/>
        </p:spPr>
        <p:txBody>
          <a:bodyPr wrap="square" lIns="27432" rIns="27432" tIns="0" bIns="0">
            <a:spAutoFit/>
          </a:bodyPr>
          <a:lstStyle/>
          <a:p>
            <a:pPr>
              <a:spcAft>
                <a:spcPts val="700"/>
              </a:spcAft>
              <a:defRPr sz="2400" b="0">
                <a:solidFill>
                  <a:srgbClr val="213C33"/>
                </a:solidFill>
                <a:latin typeface="Noto Sans CJK KR"/>
              </a:defRPr>
            </a:pPr>
            <a:r>
              <a:t>예: 180 − 100 = +80명</a:t>
            </a:r>
          </a:p>
        </p:txBody>
      </p:sp>
      <p:sp>
        <p:nvSpPr>
          <p:cNvPr id="17" name="TextBox 16"/>
          <p:cNvSpPr txBox="1"/>
          <p:nvPr/>
        </p:nvSpPr>
        <p:spPr>
          <a:xfrm>
            <a:off x="640080" y="5120640"/>
            <a:ext cx="10972800" cy="274320"/>
          </a:xfrm>
          <a:prstGeom prst="rect">
            <a:avLst/>
          </a:prstGeom>
          <a:noFill/>
        </p:spPr>
        <p:txBody>
          <a:bodyPr wrap="square" lIns="27432" rIns="27432" tIns="0" bIns="0">
            <a:spAutoFit/>
          </a:bodyPr>
          <a:lstStyle/>
          <a:p>
            <a:pPr>
              <a:spcAft>
                <a:spcPts val="700"/>
              </a:spcAft>
              <a:defRPr sz="1500" b="0">
                <a:solidFill>
                  <a:srgbClr val="637666"/>
                </a:solidFill>
                <a:latin typeface="Noto Sans CJK KR"/>
              </a:defRPr>
            </a:pPr>
            <a:r>
              <a:t>계산용 가상 예시 · 총인구는 전년보다 40명 증가</a:t>
            </a:r>
          </a:p>
        </p:txBody>
      </p:sp>
      <p:sp>
        <p:nvSpPr>
          <p:cNvPr id="18" name="Rectangle 17"/>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100" b="1">
                <a:solidFill>
                  <a:srgbClr val="FFFFFF"/>
                </a:solidFill>
                <a:latin typeface="Noto Sans CJK KR"/>
              </a:defRPr>
            </a:pPr>
            <a:r>
              <a:t>출생이 사망보다 적어도, 전입이 더 많으면 인구는 늘 수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학습 정보</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인구 문제는 지역마다 다른 모습으로 나타납니다</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5</a:t>
            </a:r>
          </a:p>
        </p:txBody>
      </p:sp>
      <p:sp>
        <p:nvSpPr>
          <p:cNvPr id="8" name="Rectangle 7"/>
          <p:cNvSpPr/>
          <p:nvPr/>
        </p:nvSpPr>
        <p:spPr>
          <a:xfrm>
            <a:off x="548640" y="1874519"/>
            <a:ext cx="3566160" cy="36118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29967"/>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수요가 빠르게 증가</a:t>
            </a:r>
          </a:p>
        </p:txBody>
      </p:sp>
      <p:sp>
        <p:nvSpPr>
          <p:cNvPr id="10" name="TextBox 9"/>
          <p:cNvSpPr txBox="1"/>
          <p:nvPr/>
        </p:nvSpPr>
        <p:spPr>
          <a:xfrm>
            <a:off x="731520" y="2487168"/>
            <a:ext cx="3200400" cy="96012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주거·시설 부족</a:t>
            </a:r>
          </a:p>
        </p:txBody>
      </p:sp>
      <p:sp>
        <p:nvSpPr>
          <p:cNvPr id="11" name="TextBox 10"/>
          <p:cNvSpPr txBox="1"/>
          <p:nvPr/>
        </p:nvSpPr>
        <p:spPr>
          <a:xfrm>
            <a:off x="731520" y="3566160"/>
            <a:ext cx="3200400" cy="182880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주택·일자리·기반 시설의</a:t>
            </a:r>
          </a:p>
          <a:p>
            <a:pPr>
              <a:spcAft>
                <a:spcPts val="700"/>
              </a:spcAft>
              <a:defRPr sz="2000" b="0">
                <a:solidFill>
                  <a:srgbClr val="213C33"/>
                </a:solidFill>
                <a:latin typeface="Noto Sans CJK KR"/>
              </a:defRPr>
            </a:pPr>
            <a:r>
              <a:t>공급이 수요를 따라가는가?</a:t>
            </a:r>
          </a:p>
        </p:txBody>
      </p:sp>
      <p:sp>
        <p:nvSpPr>
          <p:cNvPr id="12" name="Rectangle 11"/>
          <p:cNvSpPr/>
          <p:nvPr/>
        </p:nvSpPr>
        <p:spPr>
          <a:xfrm>
            <a:off x="4297679" y="1874519"/>
            <a:ext cx="3566160" cy="36118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2029967"/>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사람이 다른 곳으로 이동</a:t>
            </a:r>
          </a:p>
        </p:txBody>
      </p:sp>
      <p:sp>
        <p:nvSpPr>
          <p:cNvPr id="14" name="TextBox 13"/>
          <p:cNvSpPr txBox="1"/>
          <p:nvPr/>
        </p:nvSpPr>
        <p:spPr>
          <a:xfrm>
            <a:off x="4480559" y="2487168"/>
            <a:ext cx="3200400" cy="96012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공실·지역 격차</a:t>
            </a:r>
          </a:p>
        </p:txBody>
      </p:sp>
      <p:sp>
        <p:nvSpPr>
          <p:cNvPr id="15" name="TextBox 14"/>
          <p:cNvSpPr txBox="1"/>
          <p:nvPr/>
        </p:nvSpPr>
        <p:spPr>
          <a:xfrm>
            <a:off x="4480559" y="3566160"/>
            <a:ext cx="3200400" cy="182880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지역의 일자리·교육·서비스</a:t>
            </a:r>
          </a:p>
          <a:p>
            <a:pPr>
              <a:spcAft>
                <a:spcPts val="700"/>
              </a:spcAft>
              <a:defRPr sz="2000" b="0">
                <a:solidFill>
                  <a:srgbClr val="213C33"/>
                </a:solidFill>
                <a:latin typeface="Noto Sans CJK KR"/>
              </a:defRPr>
            </a:pPr>
            <a:r>
              <a:t>조건이 이동과 어떻게 연결되는가?</a:t>
            </a:r>
          </a:p>
        </p:txBody>
      </p:sp>
      <p:sp>
        <p:nvSpPr>
          <p:cNvPr id="16" name="Rectangle 15"/>
          <p:cNvSpPr/>
          <p:nvPr/>
        </p:nvSpPr>
        <p:spPr>
          <a:xfrm>
            <a:off x="8046719" y="1874519"/>
            <a:ext cx="3566160" cy="36118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029967"/>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연령 구성이 변화</a:t>
            </a:r>
          </a:p>
        </p:txBody>
      </p:sp>
      <p:sp>
        <p:nvSpPr>
          <p:cNvPr id="18" name="TextBox 17"/>
          <p:cNvSpPr txBox="1"/>
          <p:nvPr/>
        </p:nvSpPr>
        <p:spPr>
          <a:xfrm>
            <a:off x="8229599" y="2487168"/>
            <a:ext cx="3200400" cy="96012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돌봄·의료 수요 변화</a:t>
            </a:r>
          </a:p>
        </p:txBody>
      </p:sp>
      <p:sp>
        <p:nvSpPr>
          <p:cNvPr id="19" name="TextBox 18"/>
          <p:cNvSpPr txBox="1"/>
          <p:nvPr/>
        </p:nvSpPr>
        <p:spPr>
          <a:xfrm>
            <a:off x="8229599" y="3566160"/>
            <a:ext cx="3200400" cy="182880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누가, 어디에서, 어떤</a:t>
            </a:r>
          </a:p>
          <a:p>
            <a:pPr>
              <a:spcAft>
                <a:spcPts val="700"/>
              </a:spcAft>
              <a:defRPr sz="2000" b="0">
                <a:solidFill>
                  <a:srgbClr val="213C33"/>
                </a:solidFill>
                <a:latin typeface="Noto Sans CJK KR"/>
              </a:defRPr>
            </a:pPr>
            <a:r>
              <a:t>서비스를 필요로 하는가?</a:t>
            </a:r>
          </a:p>
        </p:txBody>
      </p:sp>
      <p:sp>
        <p:nvSpPr>
          <p:cNvPr id="20" name="Rectangle 19"/>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100" b="1">
                <a:solidFill>
                  <a:srgbClr val="FFFFFF"/>
                </a:solidFill>
                <a:latin typeface="Noto Sans CJK KR"/>
              </a:defRPr>
            </a:pPr>
            <a:r>
              <a:t>인구수뿐 아니라 “주민의 필요와 공급 조건”을 함께 살펴봅시다.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학습 정보 · 보충</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저출생·고령화는 한 가지 원인으로 설명되지 않습니다</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6</a:t>
            </a:r>
          </a:p>
        </p:txBody>
      </p:sp>
      <p:sp>
        <p:nvSpPr>
          <p:cNvPr id="8" name="Rectangle 7"/>
          <p:cNvSpPr/>
          <p:nvPr/>
        </p:nvSpPr>
        <p:spPr>
          <a:xfrm>
            <a:off x="548640" y="1828800"/>
            <a:ext cx="5394960" cy="3520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84248"/>
            <a:ext cx="50292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저출생을 살펴볼 조건</a:t>
            </a:r>
          </a:p>
        </p:txBody>
      </p:sp>
      <p:sp>
        <p:nvSpPr>
          <p:cNvPr id="10" name="TextBox 9"/>
          <p:cNvSpPr txBox="1"/>
          <p:nvPr/>
        </p:nvSpPr>
        <p:spPr>
          <a:xfrm>
            <a:off x="731520" y="2441448"/>
            <a:ext cx="50292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일·돌봄·생활의 조건</a:t>
            </a:r>
          </a:p>
        </p:txBody>
      </p:sp>
      <p:sp>
        <p:nvSpPr>
          <p:cNvPr id="11" name="TextBox 10"/>
          <p:cNvSpPr txBox="1"/>
          <p:nvPr/>
        </p:nvSpPr>
        <p:spPr>
          <a:xfrm>
            <a:off x="731520" y="3520440"/>
            <a:ext cx="5029200" cy="1737360"/>
          </a:xfrm>
          <a:prstGeom prst="rect">
            <a:avLst/>
          </a:prstGeom>
          <a:noFill/>
        </p:spPr>
        <p:txBody>
          <a:bodyPr wrap="square" lIns="27432" rIns="27432" tIns="0" bIns="0">
            <a:spAutoFit/>
          </a:bodyPr>
          <a:lstStyle/>
          <a:p>
            <a:pPr>
              <a:spcAft>
                <a:spcPts val="700"/>
              </a:spcAft>
              <a:defRPr sz="2200" b="0">
                <a:solidFill>
                  <a:srgbClr val="213C33"/>
                </a:solidFill>
                <a:latin typeface="Noto Sans CJK KR"/>
              </a:defRPr>
            </a:pPr>
            <a:r>
              <a:t>주거·양육·교육 부담</a:t>
            </a:r>
          </a:p>
          <a:p>
            <a:pPr>
              <a:spcAft>
                <a:spcPts val="700"/>
              </a:spcAft>
              <a:defRPr sz="2200" b="0">
                <a:solidFill>
                  <a:srgbClr val="213C33"/>
                </a:solidFill>
                <a:latin typeface="Noto Sans CJK KR"/>
              </a:defRPr>
            </a:pPr>
            <a:r>
              <a:t>고용 여건과 일·생활 균형</a:t>
            </a:r>
          </a:p>
          <a:p>
            <a:pPr>
              <a:spcAft>
                <a:spcPts val="700"/>
              </a:spcAft>
              <a:defRPr sz="2200" b="0">
                <a:solidFill>
                  <a:srgbClr val="213C33"/>
                </a:solidFill>
                <a:latin typeface="Noto Sans CJK KR"/>
              </a:defRPr>
            </a:pPr>
            <a:r>
              <a:t>돌봄 분담, 가족·삶의 가치관</a:t>
            </a:r>
          </a:p>
        </p:txBody>
      </p:sp>
      <p:sp>
        <p:nvSpPr>
          <p:cNvPr id="12" name="Rectangle 11"/>
          <p:cNvSpPr/>
          <p:nvPr/>
        </p:nvSpPr>
        <p:spPr>
          <a:xfrm>
            <a:off x="6172200" y="1828800"/>
            <a:ext cx="5440680" cy="3520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984248"/>
            <a:ext cx="507492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고령화에 대응할 조건</a:t>
            </a:r>
          </a:p>
        </p:txBody>
      </p:sp>
      <p:sp>
        <p:nvSpPr>
          <p:cNvPr id="14" name="TextBox 13"/>
          <p:cNvSpPr txBox="1"/>
          <p:nvPr/>
        </p:nvSpPr>
        <p:spPr>
          <a:xfrm>
            <a:off x="6355080" y="2441448"/>
            <a:ext cx="507492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일상과 참여의 조건</a:t>
            </a:r>
          </a:p>
        </p:txBody>
      </p:sp>
      <p:sp>
        <p:nvSpPr>
          <p:cNvPr id="15" name="TextBox 14"/>
          <p:cNvSpPr txBox="1"/>
          <p:nvPr/>
        </p:nvSpPr>
        <p:spPr>
          <a:xfrm>
            <a:off x="6355080" y="3520440"/>
            <a:ext cx="5074920" cy="1737360"/>
          </a:xfrm>
          <a:prstGeom prst="rect">
            <a:avLst/>
          </a:prstGeom>
          <a:noFill/>
        </p:spPr>
        <p:txBody>
          <a:bodyPr wrap="square" lIns="27432" rIns="27432" tIns="0" bIns="0">
            <a:spAutoFit/>
          </a:bodyPr>
          <a:lstStyle/>
          <a:p>
            <a:pPr>
              <a:spcAft>
                <a:spcPts val="700"/>
              </a:spcAft>
              <a:defRPr sz="2200" b="0">
                <a:solidFill>
                  <a:srgbClr val="213C33"/>
                </a:solidFill>
                <a:latin typeface="Noto Sans CJK KR"/>
              </a:defRPr>
            </a:pPr>
            <a:r>
              <a:t>의료·돌봄·이동 접근성</a:t>
            </a:r>
          </a:p>
          <a:p>
            <a:pPr>
              <a:spcAft>
                <a:spcPts val="700"/>
              </a:spcAft>
              <a:defRPr sz="2200" b="0">
                <a:solidFill>
                  <a:srgbClr val="213C33"/>
                </a:solidFill>
                <a:latin typeface="Noto Sans CJK KR"/>
              </a:defRPr>
            </a:pPr>
            <a:r>
              <a:t>노후 소득과 희망하는 일자리</a:t>
            </a:r>
          </a:p>
          <a:p>
            <a:pPr>
              <a:spcAft>
                <a:spcPts val="700"/>
              </a:spcAft>
              <a:defRPr sz="2200" b="0">
                <a:solidFill>
                  <a:srgbClr val="213C33"/>
                </a:solidFill>
                <a:latin typeface="Noto Sans CJK KR"/>
              </a:defRPr>
            </a:pPr>
            <a:r>
              <a:t>경험을 살리는 지역사회 참여</a:t>
            </a:r>
          </a:p>
        </p:txBody>
      </p:sp>
      <p:sp>
        <p:nvSpPr>
          <p:cNvPr id="16" name="Rectangle 15"/>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100" b="1">
                <a:solidFill>
                  <a:srgbClr val="FFFFFF"/>
                </a:solidFill>
                <a:latin typeface="Noto Sans CJK KR"/>
              </a:defRPr>
            </a:pPr>
            <a:r>
              <a:t>특정 성별이나 연령 집단을 문제의 원인으로 단정하지 않습니다.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학습 정보</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정책의 효과는 “필요한 조건”이 있어야 나타납니다</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7</a:t>
            </a:r>
          </a:p>
        </p:txBody>
      </p:sp>
      <p:sp>
        <p:nvSpPr>
          <p:cNvPr id="8" name="Rectangle 7"/>
          <p:cNvSpPr/>
          <p:nvPr/>
        </p:nvSpPr>
        <p:spPr>
          <a:xfrm>
            <a:off x="548640" y="1828800"/>
            <a:ext cx="3291840" cy="8686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11680"/>
            <a:ext cx="2926080" cy="54864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주택을 정비했다</a:t>
            </a:r>
          </a:p>
        </p:txBody>
      </p:sp>
      <p:sp>
        <p:nvSpPr>
          <p:cNvPr id="10" name="TextBox 9"/>
          <p:cNvSpPr txBox="1"/>
          <p:nvPr/>
        </p:nvSpPr>
        <p:spPr>
          <a:xfrm>
            <a:off x="4005072" y="1956816"/>
            <a:ext cx="640080" cy="548640"/>
          </a:xfrm>
          <a:prstGeom prst="rect">
            <a:avLst/>
          </a:prstGeom>
          <a:noFill/>
        </p:spPr>
        <p:txBody>
          <a:bodyPr wrap="square" lIns="27432" rIns="27432" tIns="0" bIns="0">
            <a:spAutoFit/>
          </a:bodyPr>
          <a:lstStyle/>
          <a:p>
            <a:pPr>
              <a:spcAft>
                <a:spcPts val="700"/>
              </a:spcAft>
              <a:defRPr sz="3000" b="1">
                <a:solidFill>
                  <a:srgbClr val="345F49"/>
                </a:solidFill>
                <a:latin typeface="Noto Sans CJK KR"/>
              </a:defRPr>
            </a:pPr>
            <a:r>
              <a:t>→</a:t>
            </a:r>
          </a:p>
        </p:txBody>
      </p:sp>
      <p:sp>
        <p:nvSpPr>
          <p:cNvPr id="11" name="TextBox 10"/>
          <p:cNvSpPr txBox="1"/>
          <p:nvPr/>
        </p:nvSpPr>
        <p:spPr>
          <a:xfrm>
            <a:off x="4663440" y="1938528"/>
            <a:ext cx="6629400" cy="731520"/>
          </a:xfrm>
          <a:prstGeom prst="rect">
            <a:avLst/>
          </a:prstGeom>
          <a:noFill/>
        </p:spPr>
        <p:txBody>
          <a:bodyPr wrap="square" lIns="27432" rIns="27432" tIns="0" bIns="0">
            <a:spAutoFit/>
          </a:bodyPr>
          <a:lstStyle/>
          <a:p>
            <a:pPr>
              <a:spcAft>
                <a:spcPts val="700"/>
              </a:spcAft>
              <a:defRPr sz="2400" b="0">
                <a:solidFill>
                  <a:srgbClr val="213C33"/>
                </a:solidFill>
                <a:latin typeface="Noto Sans CJK KR"/>
              </a:defRPr>
            </a:pPr>
            <a:r>
              <a:t>일자리와 정착 여건이 있어야 입주로 연결</a:t>
            </a:r>
          </a:p>
        </p:txBody>
      </p:sp>
      <p:sp>
        <p:nvSpPr>
          <p:cNvPr id="12" name="Rectangle 11"/>
          <p:cNvSpPr/>
          <p:nvPr/>
        </p:nvSpPr>
        <p:spPr>
          <a:xfrm>
            <a:off x="548640" y="2990088"/>
            <a:ext cx="3291840" cy="8686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72968"/>
            <a:ext cx="2926080" cy="54864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일자리를 마련했다</a:t>
            </a:r>
          </a:p>
        </p:txBody>
      </p:sp>
      <p:sp>
        <p:nvSpPr>
          <p:cNvPr id="14" name="TextBox 13"/>
          <p:cNvSpPr txBox="1"/>
          <p:nvPr/>
        </p:nvSpPr>
        <p:spPr>
          <a:xfrm>
            <a:off x="4005072" y="3118104"/>
            <a:ext cx="640080" cy="548640"/>
          </a:xfrm>
          <a:prstGeom prst="rect">
            <a:avLst/>
          </a:prstGeom>
          <a:noFill/>
        </p:spPr>
        <p:txBody>
          <a:bodyPr wrap="square" lIns="27432" rIns="27432" tIns="0" bIns="0">
            <a:spAutoFit/>
          </a:bodyPr>
          <a:lstStyle/>
          <a:p>
            <a:pPr>
              <a:spcAft>
                <a:spcPts val="700"/>
              </a:spcAft>
              <a:defRPr sz="3000" b="1">
                <a:solidFill>
                  <a:srgbClr val="345F49"/>
                </a:solidFill>
                <a:latin typeface="Noto Sans CJK KR"/>
              </a:defRPr>
            </a:pPr>
            <a:r>
              <a:t>→</a:t>
            </a:r>
          </a:p>
        </p:txBody>
      </p:sp>
      <p:sp>
        <p:nvSpPr>
          <p:cNvPr id="15" name="TextBox 14"/>
          <p:cNvSpPr txBox="1"/>
          <p:nvPr/>
        </p:nvSpPr>
        <p:spPr>
          <a:xfrm>
            <a:off x="4663440" y="3099816"/>
            <a:ext cx="6629400" cy="731520"/>
          </a:xfrm>
          <a:prstGeom prst="rect">
            <a:avLst/>
          </a:prstGeom>
          <a:noFill/>
        </p:spPr>
        <p:txBody>
          <a:bodyPr wrap="square" lIns="27432" rIns="27432" tIns="0" bIns="0">
            <a:spAutoFit/>
          </a:bodyPr>
          <a:lstStyle/>
          <a:p>
            <a:pPr>
              <a:spcAft>
                <a:spcPts val="700"/>
              </a:spcAft>
              <a:defRPr sz="2400" b="0">
                <a:solidFill>
                  <a:srgbClr val="213C33"/>
                </a:solidFill>
                <a:latin typeface="Noto Sans CJK KR"/>
              </a:defRPr>
            </a:pPr>
            <a:r>
              <a:t>노동 공급과 주거 여력이 있어야 정착에 도움</a:t>
            </a:r>
          </a:p>
        </p:txBody>
      </p:sp>
      <p:sp>
        <p:nvSpPr>
          <p:cNvPr id="16" name="Rectangle 15"/>
          <p:cNvSpPr/>
          <p:nvPr/>
        </p:nvSpPr>
        <p:spPr>
          <a:xfrm>
            <a:off x="548640" y="4151376"/>
            <a:ext cx="3291840" cy="86868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334256"/>
            <a:ext cx="2926080" cy="54864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돌봄센터를 완공했다</a:t>
            </a:r>
          </a:p>
        </p:txBody>
      </p:sp>
      <p:sp>
        <p:nvSpPr>
          <p:cNvPr id="18" name="TextBox 17"/>
          <p:cNvSpPr txBox="1"/>
          <p:nvPr/>
        </p:nvSpPr>
        <p:spPr>
          <a:xfrm>
            <a:off x="4005072" y="4279392"/>
            <a:ext cx="640080" cy="548640"/>
          </a:xfrm>
          <a:prstGeom prst="rect">
            <a:avLst/>
          </a:prstGeom>
          <a:noFill/>
        </p:spPr>
        <p:txBody>
          <a:bodyPr wrap="square" lIns="27432" rIns="27432" tIns="0" bIns="0">
            <a:spAutoFit/>
          </a:bodyPr>
          <a:lstStyle/>
          <a:p>
            <a:pPr>
              <a:spcAft>
                <a:spcPts val="700"/>
              </a:spcAft>
              <a:defRPr sz="3000" b="1">
                <a:solidFill>
                  <a:srgbClr val="345F49"/>
                </a:solidFill>
                <a:latin typeface="Noto Sans CJK KR"/>
              </a:defRPr>
            </a:pPr>
            <a:r>
              <a:t>→</a:t>
            </a:r>
          </a:p>
        </p:txBody>
      </p:sp>
      <p:sp>
        <p:nvSpPr>
          <p:cNvPr id="19" name="TextBox 18"/>
          <p:cNvSpPr txBox="1"/>
          <p:nvPr/>
        </p:nvSpPr>
        <p:spPr>
          <a:xfrm>
            <a:off x="4663440" y="4261104"/>
            <a:ext cx="6629400" cy="731520"/>
          </a:xfrm>
          <a:prstGeom prst="rect">
            <a:avLst/>
          </a:prstGeom>
          <a:noFill/>
        </p:spPr>
        <p:txBody>
          <a:bodyPr wrap="square" lIns="27432" rIns="27432" tIns="0" bIns="0">
            <a:spAutoFit/>
          </a:bodyPr>
          <a:lstStyle/>
          <a:p>
            <a:pPr>
              <a:spcAft>
                <a:spcPts val="700"/>
              </a:spcAft>
              <a:defRPr sz="2400" b="0">
                <a:solidFill>
                  <a:srgbClr val="213C33"/>
                </a:solidFill>
                <a:latin typeface="Noto Sans CJK KR"/>
              </a:defRPr>
            </a:pPr>
            <a:r>
              <a:t>운영 인력·접근성·수요가 실제 이용을 제한</a:t>
            </a:r>
          </a:p>
        </p:txBody>
      </p:sp>
      <p:sp>
        <p:nvSpPr>
          <p:cNvPr id="20" name="Rectangle 19"/>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400" b="1">
                <a:solidFill>
                  <a:srgbClr val="FFFFFF"/>
                </a:solidFill>
                <a:latin typeface="Noto Sans CJK KR"/>
              </a:defRPr>
            </a:pPr>
            <a:r>
              <a:t>선택의 핵심: 지금 가장 부족한 조건은 무엇인가요?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판단 기준 · 보충</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누구의 삶이 좋아지고, 어떤 부담이 남을까요?</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8</a:t>
            </a:r>
          </a:p>
        </p:txBody>
      </p:sp>
      <p:sp>
        <p:nvSpPr>
          <p:cNvPr id="8" name="Rectangle 7"/>
          <p:cNvSpPr/>
          <p:nvPr/>
        </p:nvSpPr>
        <p:spPr>
          <a:xfrm>
            <a:off x="548640" y="1828800"/>
            <a:ext cx="5394960" cy="137160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65960"/>
            <a:ext cx="5029200" cy="45720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현재와 미래</a:t>
            </a:r>
          </a:p>
        </p:txBody>
      </p:sp>
      <p:sp>
        <p:nvSpPr>
          <p:cNvPr id="10" name="TextBox 9"/>
          <p:cNvSpPr txBox="1"/>
          <p:nvPr/>
        </p:nvSpPr>
        <p:spPr>
          <a:xfrm>
            <a:off x="713232" y="2542032"/>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지금의 혜택과 이후 유지비를 함께 보기</a:t>
            </a:r>
          </a:p>
        </p:txBody>
      </p:sp>
      <p:sp>
        <p:nvSpPr>
          <p:cNvPr id="11" name="Rectangle 10"/>
          <p:cNvSpPr/>
          <p:nvPr/>
        </p:nvSpPr>
        <p:spPr>
          <a:xfrm>
            <a:off x="6172200" y="1828800"/>
            <a:ext cx="5394960" cy="137160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965960"/>
            <a:ext cx="5029200" cy="45720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돌봄과 평등</a:t>
            </a:r>
          </a:p>
        </p:txBody>
      </p:sp>
      <p:sp>
        <p:nvSpPr>
          <p:cNvPr id="13" name="TextBox 12"/>
          <p:cNvSpPr txBox="1"/>
          <p:nvPr/>
        </p:nvSpPr>
        <p:spPr>
          <a:xfrm>
            <a:off x="6336792" y="2542032"/>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돌봄 책임을 특정 성별에만 맡기지 않기</a:t>
            </a:r>
          </a:p>
        </p:txBody>
      </p:sp>
      <p:sp>
        <p:nvSpPr>
          <p:cNvPr id="14" name="Rectangle 13"/>
          <p:cNvSpPr/>
          <p:nvPr/>
        </p:nvSpPr>
        <p:spPr>
          <a:xfrm>
            <a:off x="548640" y="3474720"/>
            <a:ext cx="5394960" cy="137160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611879"/>
            <a:ext cx="5029200" cy="45720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접근성과 형평</a:t>
            </a:r>
          </a:p>
        </p:txBody>
      </p:sp>
      <p:sp>
        <p:nvSpPr>
          <p:cNvPr id="16" name="TextBox 15"/>
          <p:cNvSpPr txBox="1"/>
          <p:nvPr/>
        </p:nvSpPr>
        <p:spPr>
          <a:xfrm>
            <a:off x="713232" y="4187952"/>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시설이 있어도 이용하기 어려운 주민 살피기</a:t>
            </a:r>
          </a:p>
        </p:txBody>
      </p:sp>
      <p:sp>
        <p:nvSpPr>
          <p:cNvPr id="17" name="Rectangle 16"/>
          <p:cNvSpPr/>
          <p:nvPr/>
        </p:nvSpPr>
        <p:spPr>
          <a:xfrm>
            <a:off x="6172200" y="3474720"/>
            <a:ext cx="5394960" cy="137160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3611879"/>
            <a:ext cx="5029200" cy="45720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참여와 존중</a:t>
            </a:r>
          </a:p>
        </p:txBody>
      </p:sp>
      <p:sp>
        <p:nvSpPr>
          <p:cNvPr id="19" name="TextBox 18"/>
          <p:cNvSpPr txBox="1"/>
          <p:nvPr/>
        </p:nvSpPr>
        <p:spPr>
          <a:xfrm>
            <a:off x="6336792" y="4187952"/>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고령 주민·이주민의 권리와 참여 고려하기</a:t>
            </a:r>
          </a:p>
        </p:txBody>
      </p:sp>
      <p:sp>
        <p:nvSpPr>
          <p:cNvPr id="20" name="Rectangle 19"/>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000" b="1">
                <a:solidFill>
                  <a:srgbClr val="FFFFFF"/>
                </a:solidFill>
                <a:latin typeface="Noto Sans CJK KR"/>
              </a:defRPr>
            </a:pPr>
            <a:r>
              <a:t>성장은 인구 증가만으로, 성공은 돈의 크기만으로 판단하지 않습니다.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게임 안내</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같은 도시, 같은 출발 조건, 서로 다른 선택</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9</a:t>
            </a:r>
          </a:p>
        </p:txBody>
      </p:sp>
      <p:sp>
        <p:nvSpPr>
          <p:cNvPr id="8" name="Rectangle 7"/>
          <p:cNvSpPr/>
          <p:nvPr/>
        </p:nvSpPr>
        <p:spPr>
          <a:xfrm>
            <a:off x="548640" y="1828800"/>
            <a:ext cx="3566160" cy="347472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84248"/>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시간</a:t>
            </a:r>
          </a:p>
        </p:txBody>
      </p:sp>
      <p:sp>
        <p:nvSpPr>
          <p:cNvPr id="10" name="TextBox 9"/>
          <p:cNvSpPr txBox="1"/>
          <p:nvPr/>
        </p:nvSpPr>
        <p:spPr>
          <a:xfrm>
            <a:off x="731520" y="2441448"/>
            <a:ext cx="32004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1턴 = 1년</a:t>
            </a:r>
          </a:p>
        </p:txBody>
      </p:sp>
      <p:sp>
        <p:nvSpPr>
          <p:cNvPr id="11" name="TextBox 10"/>
          <p:cNvSpPr txBox="1"/>
          <p:nvPr/>
        </p:nvSpPr>
        <p:spPr>
          <a:xfrm>
            <a:off x="731520" y="3520440"/>
            <a:ext cx="3200400" cy="1691639"/>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8턴 동안 운영하고</a:t>
            </a:r>
          </a:p>
          <a:p>
            <a:pPr>
              <a:spcAft>
                <a:spcPts val="700"/>
              </a:spcAft>
              <a:defRPr sz="2300" b="0">
                <a:solidFill>
                  <a:srgbClr val="213C33"/>
                </a:solidFill>
                <a:latin typeface="Noto Sans CJK KR"/>
              </a:defRPr>
            </a:pPr>
            <a:r>
              <a:t>결과를 비교합니다.</a:t>
            </a:r>
          </a:p>
        </p:txBody>
      </p:sp>
      <p:sp>
        <p:nvSpPr>
          <p:cNvPr id="12" name="Rectangle 11"/>
          <p:cNvSpPr/>
          <p:nvPr/>
        </p:nvSpPr>
        <p:spPr>
          <a:xfrm>
            <a:off x="4297680" y="1828800"/>
            <a:ext cx="3566160" cy="347472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984248"/>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우리 조</a:t>
            </a:r>
          </a:p>
        </p:txBody>
      </p:sp>
      <p:sp>
        <p:nvSpPr>
          <p:cNvPr id="14" name="TextBox 13"/>
          <p:cNvSpPr txBox="1"/>
          <p:nvPr/>
        </p:nvSpPr>
        <p:spPr>
          <a:xfrm>
            <a:off x="4480560" y="2441448"/>
            <a:ext cx="32004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2인 1조</a:t>
            </a:r>
          </a:p>
        </p:txBody>
      </p:sp>
      <p:sp>
        <p:nvSpPr>
          <p:cNvPr id="15" name="TextBox 14"/>
          <p:cNvSpPr txBox="1"/>
          <p:nvPr/>
        </p:nvSpPr>
        <p:spPr>
          <a:xfrm>
            <a:off x="4480560" y="3520440"/>
            <a:ext cx="3200400" cy="1691639"/>
          </a:xfrm>
          <a:prstGeom prst="rect">
            <a:avLst/>
          </a:prstGeom>
          <a:noFill/>
        </p:spPr>
        <p:txBody>
          <a:bodyPr wrap="square" lIns="27432" rIns="27432" tIns="0" bIns="0">
            <a:spAutoFit/>
          </a:bodyPr>
          <a:lstStyle/>
          <a:p>
            <a:pPr>
              <a:spcAft>
                <a:spcPts val="700"/>
              </a:spcAft>
              <a:defRPr sz="2100" b="0">
                <a:solidFill>
                  <a:srgbClr val="213C33"/>
                </a:solidFill>
                <a:latin typeface="Noto Sans CJK KR"/>
              </a:defRPr>
            </a:pPr>
            <a:r>
              <a:t>운영자: 조작·정책 제안</a:t>
            </a:r>
          </a:p>
          <a:p>
            <a:pPr>
              <a:spcAft>
                <a:spcPts val="700"/>
              </a:spcAft>
              <a:defRPr sz="2100" b="0">
                <a:solidFill>
                  <a:srgbClr val="213C33"/>
                </a:solidFill>
                <a:latin typeface="Noto Sans CJK KR"/>
              </a:defRPr>
            </a:pPr>
            <a:r>
              <a:t>분석가: 비용·결과 확인</a:t>
            </a:r>
          </a:p>
        </p:txBody>
      </p:sp>
      <p:sp>
        <p:nvSpPr>
          <p:cNvPr id="16" name="Rectangle 15"/>
          <p:cNvSpPr/>
          <p:nvPr/>
        </p:nvSpPr>
        <p:spPr>
          <a:xfrm>
            <a:off x="8046720" y="1828800"/>
            <a:ext cx="3566160" cy="347472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984248"/>
            <a:ext cx="3200400" cy="320040"/>
          </a:xfrm>
          <a:prstGeom prst="rect">
            <a:avLst/>
          </a:prstGeom>
          <a:noFill/>
        </p:spPr>
        <p:txBody>
          <a:bodyPr wrap="square" lIns="27432" rIns="27432" tIns="0" bIns="0">
            <a:spAutoFit/>
          </a:bodyPr>
          <a:lstStyle/>
          <a:p>
            <a:pPr>
              <a:spcAft>
                <a:spcPts val="700"/>
              </a:spcAft>
              <a:defRPr sz="1300" b="1">
                <a:solidFill>
                  <a:srgbClr val="637666"/>
                </a:solidFill>
                <a:latin typeface="Noto Sans CJK KR"/>
              </a:defRPr>
            </a:pPr>
            <a:r>
              <a:t>공통 조건</a:t>
            </a:r>
          </a:p>
        </p:txBody>
      </p:sp>
      <p:sp>
        <p:nvSpPr>
          <p:cNvPr id="18" name="TextBox 17"/>
          <p:cNvSpPr txBox="1"/>
          <p:nvPr/>
        </p:nvSpPr>
        <p:spPr>
          <a:xfrm>
            <a:off x="8229600" y="2441448"/>
            <a:ext cx="3200400" cy="9601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도시·목표·시드</a:t>
            </a:r>
          </a:p>
        </p:txBody>
      </p:sp>
      <p:sp>
        <p:nvSpPr>
          <p:cNvPr id="19" name="TextBox 18"/>
          <p:cNvSpPr txBox="1"/>
          <p:nvPr/>
        </p:nvSpPr>
        <p:spPr>
          <a:xfrm>
            <a:off x="8229600" y="3520440"/>
            <a:ext cx="3200400" cy="1691639"/>
          </a:xfrm>
          <a:prstGeom prst="rect">
            <a:avLst/>
          </a:prstGeom>
          <a:noFill/>
        </p:spPr>
        <p:txBody>
          <a:bodyPr wrap="square" lIns="27432" rIns="27432" tIns="0" bIns="0">
            <a:spAutoFit/>
          </a:bodyPr>
          <a:lstStyle/>
          <a:p>
            <a:pPr>
              <a:spcAft>
                <a:spcPts val="700"/>
              </a:spcAft>
              <a:defRPr sz="2200" b="0">
                <a:solidFill>
                  <a:srgbClr val="213C33"/>
                </a:solidFill>
                <a:latin typeface="Noto Sans CJK KR"/>
              </a:defRPr>
            </a:pPr>
            <a:r>
              <a:t>4턴 뒤 역할 교대</a:t>
            </a:r>
          </a:p>
          <a:p>
            <a:pPr>
              <a:spcAft>
                <a:spcPts val="700"/>
              </a:spcAft>
              <a:defRPr sz="2200" b="0">
                <a:solidFill>
                  <a:srgbClr val="213C33"/>
                </a:solidFill>
                <a:latin typeface="Noto Sans CJK KR"/>
              </a:defRPr>
            </a:pPr>
            <a:r>
              <a:t>중요한 선택 2회 기록</a:t>
            </a:r>
          </a:p>
        </p:txBody>
      </p:sp>
      <p:sp>
        <p:nvSpPr>
          <p:cNvPr id="20" name="Rectangle 19"/>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000" b="1">
                <a:solidFill>
                  <a:srgbClr val="FFFFFF"/>
                </a:solidFill>
                <a:latin typeface="Noto Sans CJK KR"/>
              </a:defRPr>
            </a:pPr>
            <a:r>
              <a:t>게임 목표 달성보다 “선택과 결과를 설명하는 것”이 오늘의 과제입니다.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게임 안내</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도시 화면에서 먼저 볼 곳</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10</a:t>
            </a:r>
          </a:p>
        </p:txBody>
      </p:sp>
      <p:pic>
        <p:nvPicPr>
          <p:cNvPr id="8" name="Picture 7" descr="student-city.png"/>
          <p:cNvPicPr>
            <a:picLocks noChangeAspect="1"/>
          </p:cNvPicPr>
          <p:nvPr/>
        </p:nvPicPr>
        <p:blipFill>
          <a:blip r:embed="rId3"/>
          <a:stretch>
            <a:fillRect/>
          </a:stretch>
        </p:blipFill>
        <p:spPr>
          <a:xfrm>
            <a:off x="548640" y="1783080"/>
            <a:ext cx="7498079" cy="4663440"/>
          </a:xfrm>
          <a:prstGeom prst="rect">
            <a:avLst/>
          </a:prstGeom>
        </p:spPr>
      </p:pic>
      <p:sp>
        <p:nvSpPr>
          <p:cNvPr id="9" name="TextBox 8"/>
          <p:cNvSpPr txBox="1"/>
          <p:nvPr/>
        </p:nvSpPr>
        <p:spPr>
          <a:xfrm>
            <a:off x="8257031" y="1874519"/>
            <a:ext cx="3383280" cy="54864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① 상단 지표</a:t>
            </a:r>
          </a:p>
        </p:txBody>
      </p:sp>
      <p:sp>
        <p:nvSpPr>
          <p:cNvPr id="10" name="TextBox 9"/>
          <p:cNvSpPr txBox="1"/>
          <p:nvPr/>
        </p:nvSpPr>
        <p:spPr>
          <a:xfrm>
            <a:off x="8257031" y="2468879"/>
            <a:ext cx="3383280" cy="7772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현재 예산 · 인구 · 수지</a:t>
            </a:r>
          </a:p>
        </p:txBody>
      </p:sp>
      <p:sp>
        <p:nvSpPr>
          <p:cNvPr id="11" name="TextBox 10"/>
          <p:cNvSpPr txBox="1"/>
          <p:nvPr/>
        </p:nvSpPr>
        <p:spPr>
          <a:xfrm>
            <a:off x="8257031" y="3154680"/>
            <a:ext cx="3383280" cy="54864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② 생활권·시설</a:t>
            </a:r>
          </a:p>
        </p:txBody>
      </p:sp>
      <p:sp>
        <p:nvSpPr>
          <p:cNvPr id="12" name="TextBox 11"/>
          <p:cNvSpPr txBox="1"/>
          <p:nvPr/>
        </p:nvSpPr>
        <p:spPr>
          <a:xfrm>
            <a:off x="8257031" y="3749040"/>
            <a:ext cx="3383280" cy="7772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지역 문제 · 공급과 이용</a:t>
            </a:r>
          </a:p>
        </p:txBody>
      </p:sp>
      <p:sp>
        <p:nvSpPr>
          <p:cNvPr id="13" name="TextBox 12"/>
          <p:cNvSpPr txBox="1"/>
          <p:nvPr/>
        </p:nvSpPr>
        <p:spPr>
          <a:xfrm>
            <a:off x="8257031" y="4434840"/>
            <a:ext cx="3383280" cy="54864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③ 정책·다음 해</a:t>
            </a:r>
          </a:p>
        </p:txBody>
      </p:sp>
      <p:sp>
        <p:nvSpPr>
          <p:cNvPr id="14" name="TextBox 13"/>
          <p:cNvSpPr txBox="1"/>
          <p:nvPr/>
        </p:nvSpPr>
        <p:spPr>
          <a:xfrm>
            <a:off x="8257031" y="5029200"/>
            <a:ext cx="3383280" cy="7772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비용 확인 → 시행 → 결산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게임 안내</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정책을 시행하기 전, 네 가지를 확인하세요</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11</a:t>
            </a:r>
          </a:p>
        </p:txBody>
      </p:sp>
      <p:sp>
        <p:nvSpPr>
          <p:cNvPr id="8" name="Rectangle 7"/>
          <p:cNvSpPr/>
          <p:nvPr/>
        </p:nvSpPr>
        <p:spPr>
          <a:xfrm>
            <a:off x="548640" y="1783080"/>
            <a:ext cx="5394960" cy="141732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892807"/>
            <a:ext cx="5029200" cy="5029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01  투자비</a:t>
            </a:r>
          </a:p>
        </p:txBody>
      </p:sp>
      <p:sp>
        <p:nvSpPr>
          <p:cNvPr id="10" name="TextBox 9"/>
          <p:cNvSpPr txBox="1"/>
          <p:nvPr/>
        </p:nvSpPr>
        <p:spPr>
          <a:xfrm>
            <a:off x="694944" y="2560320"/>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지금 가진 돈으로 시행 가능한가?</a:t>
            </a:r>
          </a:p>
        </p:txBody>
      </p:sp>
      <p:sp>
        <p:nvSpPr>
          <p:cNvPr id="11" name="Rectangle 10"/>
          <p:cNvSpPr/>
          <p:nvPr/>
        </p:nvSpPr>
        <p:spPr>
          <a:xfrm>
            <a:off x="6172200" y="1783080"/>
            <a:ext cx="5394960" cy="141732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8504" y="1892807"/>
            <a:ext cx="5029200" cy="5029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02  유지비</a:t>
            </a:r>
          </a:p>
        </p:txBody>
      </p:sp>
      <p:sp>
        <p:nvSpPr>
          <p:cNvPr id="13" name="TextBox 12"/>
          <p:cNvSpPr txBox="1"/>
          <p:nvPr/>
        </p:nvSpPr>
        <p:spPr>
          <a:xfrm>
            <a:off x="6318504" y="2560320"/>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앞으로 매년 감당할 수 있는가?</a:t>
            </a:r>
          </a:p>
        </p:txBody>
      </p:sp>
      <p:sp>
        <p:nvSpPr>
          <p:cNvPr id="14" name="Rectangle 13"/>
          <p:cNvSpPr/>
          <p:nvPr/>
        </p:nvSpPr>
        <p:spPr>
          <a:xfrm>
            <a:off x="548640" y="3429000"/>
            <a:ext cx="5394960" cy="141732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3538728"/>
            <a:ext cx="5029200" cy="5029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03  완료 시점</a:t>
            </a:r>
          </a:p>
        </p:txBody>
      </p:sp>
      <p:sp>
        <p:nvSpPr>
          <p:cNvPr id="16" name="TextBox 15"/>
          <p:cNvSpPr txBox="1"/>
          <p:nvPr/>
        </p:nvSpPr>
        <p:spPr>
          <a:xfrm>
            <a:off x="694944" y="4206240"/>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언제부터 효과를 확인할 수 있는가?</a:t>
            </a:r>
          </a:p>
        </p:txBody>
      </p:sp>
      <p:sp>
        <p:nvSpPr>
          <p:cNvPr id="17" name="Rectangle 16"/>
          <p:cNvSpPr/>
          <p:nvPr/>
        </p:nvSpPr>
        <p:spPr>
          <a:xfrm>
            <a:off x="6172200" y="3429000"/>
            <a:ext cx="5394960" cy="141732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3538728"/>
            <a:ext cx="5029200" cy="502920"/>
          </a:xfrm>
          <a:prstGeom prst="rect">
            <a:avLst/>
          </a:prstGeom>
          <a:noFill/>
        </p:spPr>
        <p:txBody>
          <a:bodyPr wrap="square" lIns="27432" rIns="27432" tIns="0" bIns="0">
            <a:spAutoFit/>
          </a:bodyPr>
          <a:lstStyle/>
          <a:p>
            <a:pPr>
              <a:spcAft>
                <a:spcPts val="700"/>
              </a:spcAft>
              <a:defRPr sz="2500" b="1">
                <a:solidFill>
                  <a:srgbClr val="213C33"/>
                </a:solidFill>
                <a:latin typeface="Noto Sans CJK KR"/>
              </a:defRPr>
            </a:pPr>
            <a:r>
              <a:t>04  효과의 조건</a:t>
            </a:r>
          </a:p>
        </p:txBody>
      </p:sp>
      <p:sp>
        <p:nvSpPr>
          <p:cNvPr id="19" name="TextBox 18"/>
          <p:cNvSpPr txBox="1"/>
          <p:nvPr/>
        </p:nvSpPr>
        <p:spPr>
          <a:xfrm>
            <a:off x="6318504" y="4206240"/>
            <a:ext cx="5029200" cy="54864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인력·수요·접근성·일자리는 충분한가?</a:t>
            </a:r>
          </a:p>
        </p:txBody>
      </p:sp>
      <p:sp>
        <p:nvSpPr>
          <p:cNvPr id="20" name="Rectangle 19"/>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300" b="1">
                <a:solidFill>
                  <a:srgbClr val="FFFFFF"/>
                </a:solidFill>
                <a:latin typeface="Noto Sans CJK KR"/>
              </a:defRPr>
            </a:pPr>
            <a:r>
              <a:t>신규 사업은 한 해 1개 · 같은 정책·같은 대상 중복 투자 불가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활동 시작</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우리 조의 첫 번째 결정을 해봅시다</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12</a:t>
            </a:r>
          </a:p>
        </p:txBody>
      </p:sp>
      <p:sp>
        <p:nvSpPr>
          <p:cNvPr id="8" name="Rectangle 7"/>
          <p:cNvSpPr/>
          <p:nvPr/>
        </p:nvSpPr>
        <p:spPr>
          <a:xfrm>
            <a:off x="548640" y="1737360"/>
            <a:ext cx="11064240" cy="123444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47088"/>
            <a:ext cx="10515600" cy="457200"/>
          </a:xfrm>
          <a:prstGeom prst="rect">
            <a:avLst/>
          </a:prstGeom>
          <a:noFill/>
        </p:spPr>
        <p:txBody>
          <a:bodyPr wrap="square" lIns="27432" rIns="27432" tIns="0" bIns="0">
            <a:spAutoFit/>
          </a:bodyPr>
          <a:lstStyle/>
          <a:p>
            <a:pPr>
              <a:spcAft>
                <a:spcPts val="700"/>
              </a:spcAft>
              <a:defRPr sz="2400" b="1">
                <a:solidFill>
                  <a:srgbClr val="213C33"/>
                </a:solidFill>
                <a:latin typeface="Noto Sans CJK KR"/>
              </a:defRPr>
            </a:pPr>
            <a:r>
              <a:t>학생 접속 주소: [교사 PC의 접속 주소 입력]</a:t>
            </a:r>
          </a:p>
        </p:txBody>
      </p:sp>
      <p:sp>
        <p:nvSpPr>
          <p:cNvPr id="10" name="TextBox 9"/>
          <p:cNvSpPr txBox="1"/>
          <p:nvPr/>
        </p:nvSpPr>
        <p:spPr>
          <a:xfrm>
            <a:off x="777240" y="2404872"/>
            <a:ext cx="10515600" cy="457200"/>
          </a:xfrm>
          <a:prstGeom prst="rect">
            <a:avLst/>
          </a:prstGeom>
          <a:noFill/>
        </p:spPr>
        <p:txBody>
          <a:bodyPr wrap="square" lIns="27432" rIns="27432" tIns="0" bIns="0">
            <a:spAutoFit/>
          </a:bodyPr>
          <a:lstStyle/>
          <a:p>
            <a:pPr>
              <a:spcAft>
                <a:spcPts val="700"/>
              </a:spcAft>
              <a:defRPr sz="2200" b="0">
                <a:solidFill>
                  <a:srgbClr val="213C33"/>
                </a:solidFill>
                <a:latin typeface="Noto Sans CJK KR"/>
              </a:defRPr>
            </a:pPr>
            <a:r>
              <a:t>참가 코드: [수업방 생성 후 입력]    조 이름: 예) 1조</a:t>
            </a:r>
          </a:p>
        </p:txBody>
      </p:sp>
      <p:sp>
        <p:nvSpPr>
          <p:cNvPr id="11" name="TextBox 10"/>
          <p:cNvSpPr txBox="1"/>
          <p:nvPr/>
        </p:nvSpPr>
        <p:spPr>
          <a:xfrm>
            <a:off x="731520" y="3337560"/>
            <a:ext cx="10789920" cy="1645920"/>
          </a:xfrm>
          <a:prstGeom prst="rect">
            <a:avLst/>
          </a:prstGeom>
          <a:noFill/>
        </p:spPr>
        <p:txBody>
          <a:bodyPr wrap="square" lIns="27432" rIns="27432" tIns="0" bIns="0">
            <a:spAutoFit/>
          </a:bodyPr>
          <a:lstStyle/>
          <a:p>
            <a:pPr>
              <a:spcAft>
                <a:spcPts val="700"/>
              </a:spcAft>
              <a:defRPr sz="2600" b="0">
                <a:solidFill>
                  <a:srgbClr val="213C33"/>
                </a:solidFill>
                <a:latin typeface="Noto Sans CJK KR"/>
              </a:defRPr>
            </a:pPr>
            <a:r>
              <a:t>1  생활권의 문제를 지표와 지도에서 찾기</a:t>
            </a:r>
          </a:p>
          <a:p>
            <a:pPr>
              <a:spcAft>
                <a:spcPts val="700"/>
              </a:spcAft>
              <a:defRPr sz="2600" b="0">
                <a:solidFill>
                  <a:srgbClr val="213C33"/>
                </a:solidFill>
                <a:latin typeface="Noto Sans CJK KR"/>
              </a:defRPr>
            </a:pPr>
            <a:r>
              <a:t>2  “이 정책이 왜 필요한가?”에 둘이 합의하기</a:t>
            </a:r>
          </a:p>
          <a:p>
            <a:pPr>
              <a:spcAft>
                <a:spcPts val="700"/>
              </a:spcAft>
              <a:defRPr sz="2600" b="0">
                <a:solidFill>
                  <a:srgbClr val="213C33"/>
                </a:solidFill>
                <a:latin typeface="Noto Sans CJK KR"/>
              </a:defRPr>
            </a:pPr>
            <a:r>
              <a:t>3  시행 후 같은 장소와 수치가 어떻게 달라졌는지 확인하기</a:t>
            </a:r>
          </a:p>
        </p:txBody>
      </p:sp>
      <p:sp>
        <p:nvSpPr>
          <p:cNvPr id="12" name="Rectangle 11"/>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100" b="1">
                <a:solidFill>
                  <a:srgbClr val="FFFFFF"/>
                </a:solidFill>
                <a:latin typeface="Noto Sans CJK KR"/>
              </a:defRPr>
            </a:pPr>
            <a:r>
              <a:t>선택 기록: 정책·대상·비용·예상 조건·실제 결과를 짧게 적으세요.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중간 점검</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예상한 만큼 달라지지 않았다면?</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13</a:t>
            </a:r>
          </a:p>
        </p:txBody>
      </p:sp>
      <p:sp>
        <p:nvSpPr>
          <p:cNvPr id="8" name="TextBox 7"/>
          <p:cNvSpPr txBox="1"/>
          <p:nvPr/>
        </p:nvSpPr>
        <p:spPr>
          <a:xfrm>
            <a:off x="731520" y="1874519"/>
            <a:ext cx="10698480" cy="2560320"/>
          </a:xfrm>
          <a:prstGeom prst="rect">
            <a:avLst/>
          </a:prstGeom>
          <a:noFill/>
        </p:spPr>
        <p:txBody>
          <a:bodyPr wrap="square" lIns="27432" rIns="27432" tIns="0" bIns="0">
            <a:spAutoFit/>
          </a:bodyPr>
          <a:lstStyle/>
          <a:p>
            <a:pPr>
              <a:spcAft>
                <a:spcPts val="700"/>
              </a:spcAft>
              <a:defRPr sz="2900" b="0">
                <a:solidFill>
                  <a:srgbClr val="213C33"/>
                </a:solidFill>
                <a:latin typeface="Noto Sans CJK KR"/>
              </a:defRPr>
            </a:pPr>
            <a:r>
              <a:t>건물은 완공됐는데, 실제 이용도 늘었나요?</a:t>
            </a:r>
          </a:p>
          <a:p>
            <a:pPr>
              <a:spcAft>
                <a:spcPts val="700"/>
              </a:spcAft>
              <a:defRPr sz="2900" b="0">
                <a:solidFill>
                  <a:srgbClr val="213C33"/>
                </a:solidFill>
                <a:latin typeface="Noto Sans CJK KR"/>
              </a:defRPr>
            </a:pPr>
            <a:r>
              <a:t>주택은 늘었는데, 채용 가능한 일자리도 있나요?</a:t>
            </a:r>
          </a:p>
          <a:p>
            <a:pPr>
              <a:spcAft>
                <a:spcPts val="700"/>
              </a:spcAft>
              <a:defRPr sz="2900" b="0">
                <a:solidFill>
                  <a:srgbClr val="213C33"/>
                </a:solidFill>
                <a:latin typeface="Noto Sans CJK KR"/>
              </a:defRPr>
            </a:pPr>
            <a:r>
              <a:t>서비스 비율이 올랐다면, 공급과 수요 중 무엇이 변했나요?</a:t>
            </a:r>
          </a:p>
        </p:txBody>
      </p:sp>
      <p:sp>
        <p:nvSpPr>
          <p:cNvPr id="9" name="Rectangle 8"/>
          <p:cNvSpPr/>
          <p:nvPr/>
        </p:nvSpPr>
        <p:spPr>
          <a:xfrm>
            <a:off x="640080" y="4754880"/>
            <a:ext cx="10881360" cy="685800"/>
          </a:xfrm>
          <a:prstGeom prst="rect">
            <a:avLst/>
          </a:prstGeom>
          <a:solidFill>
            <a:srgbClr val="E5E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4892040"/>
            <a:ext cx="10515600" cy="502920"/>
          </a:xfrm>
          <a:prstGeom prst="rect">
            <a:avLst/>
          </a:prstGeom>
          <a:noFill/>
        </p:spPr>
        <p:txBody>
          <a:bodyPr wrap="square" lIns="27432" rIns="27432" tIns="0" bIns="0">
            <a:spAutoFit/>
          </a:bodyPr>
          <a:lstStyle/>
          <a:p>
            <a:pPr>
              <a:spcAft>
                <a:spcPts val="700"/>
              </a:spcAft>
              <a:defRPr sz="2500" b="1">
                <a:solidFill>
                  <a:srgbClr val="345F49"/>
                </a:solidFill>
                <a:latin typeface="Noto Sans CJK KR"/>
              </a:defRPr>
            </a:pPr>
            <a:r>
              <a:t>공급 · 인력 · 접근성 · 수요 · 주거 · 일자리 · 재정</a:t>
            </a:r>
          </a:p>
        </p:txBody>
      </p:sp>
      <p:sp>
        <p:nvSpPr>
          <p:cNvPr id="11" name="Rectangle 10"/>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200" b="1">
                <a:solidFill>
                  <a:srgbClr val="FFFFFF"/>
                </a:solidFill>
                <a:latin typeface="Noto Sans CJK KR"/>
              </a:defRPr>
            </a:pPr>
            <a:r>
              <a:t>지금 필요한 것은 새 건물일까요, 기존 시설의 운영 개선일까요?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결과 비교</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같은 턴의 추세를 비교하세요</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14</a:t>
            </a:r>
          </a:p>
        </p:txBody>
      </p:sp>
      <p:graphicFrame>
        <p:nvGraphicFramePr>
          <p:cNvPr id="8" name="Chart 7"/>
          <p:cNvGraphicFramePr>
            <a:graphicFrameLocks noGrp="1"/>
          </p:cNvGraphicFramePr>
          <p:nvPr/>
        </p:nvGraphicFramePr>
        <p:xfrm>
          <a:off x="594360" y="1828800"/>
          <a:ext cx="7589520" cy="3611880"/>
        </p:xfrm>
        <a:graphic>
          <a:graphicData uri="http://schemas.openxmlformats.org/drawingml/2006/chart">
            <c:chart xmlns:c="http://schemas.openxmlformats.org/drawingml/2006/chart" r:id="rId3"/>
          </a:graphicData>
        </a:graphic>
      </p:graphicFrame>
      <p:sp>
        <p:nvSpPr>
          <p:cNvPr id="9" name="TextBox 8"/>
          <p:cNvSpPr txBox="1"/>
          <p:nvPr/>
        </p:nvSpPr>
        <p:spPr>
          <a:xfrm>
            <a:off x="8458200" y="1965960"/>
            <a:ext cx="3063240" cy="594360"/>
          </a:xfrm>
          <a:prstGeom prst="rect">
            <a:avLst/>
          </a:prstGeom>
          <a:noFill/>
        </p:spPr>
        <p:txBody>
          <a:bodyPr wrap="square" lIns="27432" rIns="27432" tIns="0" bIns="0">
            <a:spAutoFit/>
          </a:bodyPr>
          <a:lstStyle/>
          <a:p>
            <a:pPr>
              <a:spcAft>
                <a:spcPts val="700"/>
              </a:spcAft>
              <a:defRPr sz="2100" b="1">
                <a:solidFill>
                  <a:srgbClr val="213C33"/>
                </a:solidFill>
                <a:latin typeface="Noto Sans CJK KR"/>
              </a:defRPr>
            </a:pPr>
            <a:r>
              <a:t>돌봄 수요 충족률 (%)</a:t>
            </a:r>
          </a:p>
        </p:txBody>
      </p:sp>
      <p:sp>
        <p:nvSpPr>
          <p:cNvPr id="10" name="TextBox 9"/>
          <p:cNvSpPr txBox="1"/>
          <p:nvPr/>
        </p:nvSpPr>
        <p:spPr>
          <a:xfrm>
            <a:off x="8458200" y="2788920"/>
            <a:ext cx="3063240" cy="2286000"/>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비교할 때</a:t>
            </a:r>
          </a:p>
          <a:p>
            <a:pPr>
              <a:spcAft>
                <a:spcPts val="700"/>
              </a:spcAft>
              <a:defRPr sz="2300" b="0">
                <a:solidFill>
                  <a:srgbClr val="213C33"/>
                </a:solidFill>
                <a:latin typeface="Noto Sans CJK KR"/>
              </a:defRPr>
            </a:pPr>
            <a:r>
              <a:t>• 같은 턴인가?</a:t>
            </a:r>
          </a:p>
          <a:p>
            <a:pPr>
              <a:spcAft>
                <a:spcPts val="700"/>
              </a:spcAft>
              <a:defRPr sz="2300" b="0">
                <a:solidFill>
                  <a:srgbClr val="213C33"/>
                </a:solidFill>
                <a:latin typeface="Noto Sans CJK KR"/>
              </a:defRPr>
            </a:pPr>
            <a:r>
              <a:t>• 초기 조건이 같은가?</a:t>
            </a:r>
          </a:p>
          <a:p>
            <a:pPr>
              <a:spcAft>
                <a:spcPts val="700"/>
              </a:spcAft>
              <a:defRPr sz="2300" b="0">
                <a:solidFill>
                  <a:srgbClr val="213C33"/>
                </a:solidFill>
                <a:latin typeface="Noto Sans CJK KR"/>
              </a:defRPr>
            </a:pPr>
            <a:r>
              <a:t>• 다른 지표는 어떤가?</a:t>
            </a:r>
          </a:p>
        </p:txBody>
      </p:sp>
      <p:sp>
        <p:nvSpPr>
          <p:cNvPr id="11" name="TextBox 10"/>
          <p:cNvSpPr txBox="1"/>
          <p:nvPr/>
        </p:nvSpPr>
        <p:spPr>
          <a:xfrm>
            <a:off x="731520" y="5486400"/>
            <a:ext cx="10698480" cy="365760"/>
          </a:xfrm>
          <a:prstGeom prst="rect">
            <a:avLst/>
          </a:prstGeom>
          <a:noFill/>
        </p:spPr>
        <p:txBody>
          <a:bodyPr wrap="square" lIns="27432" rIns="27432" tIns="0" bIns="0">
            <a:spAutoFit/>
          </a:bodyPr>
          <a:lstStyle/>
          <a:p>
            <a:pPr>
              <a:spcAft>
                <a:spcPts val="700"/>
              </a:spcAft>
              <a:defRPr sz="1400" b="0">
                <a:solidFill>
                  <a:srgbClr val="637666"/>
                </a:solidFill>
                <a:latin typeface="Noto Sans CJK KR"/>
              </a:defRPr>
            </a:pPr>
            <a:r>
              <a:t>검증용 두 경로의 실제 게임 기록입니다. 학생 결과·실제 통계·정답 전략이 아닙니다.</a:t>
            </a:r>
          </a:p>
        </p:txBody>
      </p:sp>
      <p:sp>
        <p:nvSpPr>
          <p:cNvPr id="12" name="Rectangle 11"/>
          <p:cNvSpPr/>
          <p:nvPr/>
        </p:nvSpPr>
        <p:spPr>
          <a:xfrm>
            <a:off x="548640" y="5870448"/>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961888"/>
            <a:ext cx="10698480" cy="457200"/>
          </a:xfrm>
          <a:prstGeom prst="rect">
            <a:avLst/>
          </a:prstGeom>
          <a:noFill/>
        </p:spPr>
        <p:txBody>
          <a:bodyPr wrap="square" lIns="27432" rIns="27432" tIns="0" bIns="0">
            <a:spAutoFit/>
          </a:bodyPr>
          <a:lstStyle/>
          <a:p>
            <a:pPr>
              <a:spcAft>
                <a:spcPts val="700"/>
              </a:spcAft>
              <a:defRPr sz="2200" b="1">
                <a:solidFill>
                  <a:srgbClr val="FFFFFF"/>
                </a:solidFill>
                <a:latin typeface="Noto Sans CJK KR"/>
              </a:defRPr>
            </a:pPr>
            <a:r>
              <a:t>비율이 올랐다면 실제 이용량과 수요도 함께 확인하세요.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학습 정리</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우리가 만든 도시를 설명해 봅시다</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15</a:t>
            </a:r>
          </a:p>
        </p:txBody>
      </p:sp>
      <p:sp>
        <p:nvSpPr>
          <p:cNvPr id="8" name="Rectangle 7"/>
          <p:cNvSpPr/>
          <p:nvPr/>
        </p:nvSpPr>
        <p:spPr>
          <a:xfrm>
            <a:off x="594360" y="1783080"/>
            <a:ext cx="1188720" cy="667512"/>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92807"/>
            <a:ext cx="914400" cy="457200"/>
          </a:xfrm>
          <a:prstGeom prst="rect">
            <a:avLst/>
          </a:prstGeom>
          <a:noFill/>
        </p:spPr>
        <p:txBody>
          <a:bodyPr wrap="square" lIns="27432" rIns="27432" tIns="0" bIns="0">
            <a:spAutoFit/>
          </a:bodyPr>
          <a:lstStyle/>
          <a:p>
            <a:pPr>
              <a:spcAft>
                <a:spcPts val="700"/>
              </a:spcAft>
              <a:defRPr sz="2300" b="1">
                <a:solidFill>
                  <a:srgbClr val="FFFFFF"/>
                </a:solidFill>
                <a:latin typeface="Noto Sans CJK KR"/>
              </a:defRPr>
            </a:pPr>
            <a:r>
              <a:t>주장</a:t>
            </a:r>
          </a:p>
        </p:txBody>
      </p:sp>
      <p:sp>
        <p:nvSpPr>
          <p:cNvPr id="10" name="TextBox 9"/>
          <p:cNvSpPr txBox="1"/>
          <p:nvPr/>
        </p:nvSpPr>
        <p:spPr>
          <a:xfrm>
            <a:off x="1965960" y="1828800"/>
            <a:ext cx="9418320" cy="731520"/>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우리 도시는 ______ 면에서 개선되었습니다.</a:t>
            </a:r>
          </a:p>
        </p:txBody>
      </p:sp>
      <p:sp>
        <p:nvSpPr>
          <p:cNvPr id="11" name="Rectangle 10"/>
          <p:cNvSpPr/>
          <p:nvPr/>
        </p:nvSpPr>
        <p:spPr>
          <a:xfrm>
            <a:off x="594360" y="2688336"/>
            <a:ext cx="1188720" cy="667512"/>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98064"/>
            <a:ext cx="914400" cy="457200"/>
          </a:xfrm>
          <a:prstGeom prst="rect">
            <a:avLst/>
          </a:prstGeom>
          <a:noFill/>
        </p:spPr>
        <p:txBody>
          <a:bodyPr wrap="square" lIns="27432" rIns="27432" tIns="0" bIns="0">
            <a:spAutoFit/>
          </a:bodyPr>
          <a:lstStyle/>
          <a:p>
            <a:pPr>
              <a:spcAft>
                <a:spcPts val="700"/>
              </a:spcAft>
              <a:defRPr sz="2300" b="1">
                <a:solidFill>
                  <a:srgbClr val="FFFFFF"/>
                </a:solidFill>
                <a:latin typeface="Noto Sans CJK KR"/>
              </a:defRPr>
            </a:pPr>
            <a:r>
              <a:t>근거</a:t>
            </a:r>
          </a:p>
        </p:txBody>
      </p:sp>
      <p:sp>
        <p:nvSpPr>
          <p:cNvPr id="13" name="TextBox 12"/>
          <p:cNvSpPr txBox="1"/>
          <p:nvPr/>
        </p:nvSpPr>
        <p:spPr>
          <a:xfrm>
            <a:off x="1965960" y="2734056"/>
            <a:ext cx="9418320" cy="731520"/>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______턴의 ______ 지표가 ______에서 ______로 변했습니다.</a:t>
            </a:r>
          </a:p>
        </p:txBody>
      </p:sp>
      <p:sp>
        <p:nvSpPr>
          <p:cNvPr id="14" name="Rectangle 13"/>
          <p:cNvSpPr/>
          <p:nvPr/>
        </p:nvSpPr>
        <p:spPr>
          <a:xfrm>
            <a:off x="594360" y="3593592"/>
            <a:ext cx="1188720" cy="667512"/>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703320"/>
            <a:ext cx="914400" cy="457200"/>
          </a:xfrm>
          <a:prstGeom prst="rect">
            <a:avLst/>
          </a:prstGeom>
          <a:noFill/>
        </p:spPr>
        <p:txBody>
          <a:bodyPr wrap="square" lIns="27432" rIns="27432" tIns="0" bIns="0">
            <a:spAutoFit/>
          </a:bodyPr>
          <a:lstStyle/>
          <a:p>
            <a:pPr>
              <a:spcAft>
                <a:spcPts val="700"/>
              </a:spcAft>
              <a:defRPr sz="2300" b="1">
                <a:solidFill>
                  <a:srgbClr val="FFFFFF"/>
                </a:solidFill>
                <a:latin typeface="Noto Sans CJK KR"/>
              </a:defRPr>
            </a:pPr>
            <a:r>
              <a:t>이유</a:t>
            </a:r>
          </a:p>
        </p:txBody>
      </p:sp>
      <p:sp>
        <p:nvSpPr>
          <p:cNvPr id="16" name="TextBox 15"/>
          <p:cNvSpPr txBox="1"/>
          <p:nvPr/>
        </p:nvSpPr>
        <p:spPr>
          <a:xfrm>
            <a:off x="1965960" y="3639312"/>
            <a:ext cx="9418320" cy="731520"/>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______ 선택이 ______ 조건을 바꾸었기 때문입니다.</a:t>
            </a:r>
          </a:p>
        </p:txBody>
      </p:sp>
      <p:sp>
        <p:nvSpPr>
          <p:cNvPr id="17" name="Rectangle 16"/>
          <p:cNvSpPr/>
          <p:nvPr/>
        </p:nvSpPr>
        <p:spPr>
          <a:xfrm>
            <a:off x="594360" y="4498848"/>
            <a:ext cx="1188720" cy="667512"/>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608576"/>
            <a:ext cx="914400" cy="457200"/>
          </a:xfrm>
          <a:prstGeom prst="rect">
            <a:avLst/>
          </a:prstGeom>
          <a:noFill/>
        </p:spPr>
        <p:txBody>
          <a:bodyPr wrap="square" lIns="27432" rIns="27432" tIns="0" bIns="0">
            <a:spAutoFit/>
          </a:bodyPr>
          <a:lstStyle/>
          <a:p>
            <a:pPr>
              <a:spcAft>
                <a:spcPts val="700"/>
              </a:spcAft>
              <a:defRPr sz="2300" b="1">
                <a:solidFill>
                  <a:srgbClr val="FFFFFF"/>
                </a:solidFill>
                <a:latin typeface="Noto Sans CJK KR"/>
              </a:defRPr>
            </a:pPr>
            <a:r>
              <a:t>한계</a:t>
            </a:r>
          </a:p>
        </p:txBody>
      </p:sp>
      <p:sp>
        <p:nvSpPr>
          <p:cNvPr id="19" name="TextBox 18"/>
          <p:cNvSpPr txBox="1"/>
          <p:nvPr/>
        </p:nvSpPr>
        <p:spPr>
          <a:xfrm>
            <a:off x="1965960" y="4544568"/>
            <a:ext cx="9418320" cy="731520"/>
          </a:xfrm>
          <a:prstGeom prst="rect">
            <a:avLst/>
          </a:prstGeom>
          <a:noFill/>
        </p:spPr>
        <p:txBody>
          <a:bodyPr wrap="square" lIns="27432" rIns="27432" tIns="0" bIns="0">
            <a:spAutoFit/>
          </a:bodyPr>
          <a:lstStyle/>
          <a:p>
            <a:pPr>
              <a:spcAft>
                <a:spcPts val="700"/>
              </a:spcAft>
              <a:defRPr sz="2300" b="0">
                <a:solidFill>
                  <a:srgbClr val="213C33"/>
                </a:solidFill>
                <a:latin typeface="Noto Sans CJK KR"/>
              </a:defRPr>
            </a:pPr>
            <a:r>
              <a:t>하지만 ______ 문제는 남았고, 현실에서는 ______도 필요합니다.</a:t>
            </a:r>
          </a:p>
        </p:txBody>
      </p:sp>
      <p:sp>
        <p:nvSpPr>
          <p:cNvPr id="20" name="Rectangle 19"/>
          <p:cNvSpPr/>
          <p:nvPr/>
        </p:nvSpPr>
        <p:spPr>
          <a:xfrm>
            <a:off x="548640" y="5632704"/>
            <a:ext cx="11064240" cy="59436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24144"/>
            <a:ext cx="10698480" cy="457200"/>
          </a:xfrm>
          <a:prstGeom prst="rect">
            <a:avLst/>
          </a:prstGeom>
          <a:noFill/>
        </p:spPr>
        <p:txBody>
          <a:bodyPr wrap="square" lIns="27432" rIns="27432" tIns="0" bIns="0">
            <a:spAutoFit/>
          </a:bodyPr>
          <a:lstStyle/>
          <a:p>
            <a:pPr>
              <a:spcAft>
                <a:spcPts val="700"/>
              </a:spcAft>
              <a:defRPr sz="2100" b="1">
                <a:solidFill>
                  <a:srgbClr val="FFFFFF"/>
                </a:solidFill>
                <a:latin typeface="Noto Sans CJK KR"/>
              </a:defRPr>
            </a:pPr>
            <a:r>
              <a:t>다시 질문합니다. 인구가 줄어도 살기 좋은 도시가 될 수 있을까요?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참고 01 · 필요할 때만</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정책 비교표 — 숫자는 게임의 가정입니다</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16</a:t>
            </a:r>
          </a:p>
        </p:txBody>
      </p:sp>
      <p:graphicFrame>
        <p:nvGraphicFramePr>
          <p:cNvPr id="8" name="Table 7"/>
          <p:cNvGraphicFramePr>
            <a:graphicFrameLocks noGrp="1"/>
          </p:cNvGraphicFramePr>
          <p:nvPr/>
        </p:nvGraphicFramePr>
        <p:xfrm>
          <a:off x="594360" y="1828800"/>
          <a:ext cx="10972800" cy="3429000"/>
        </p:xfrm>
        <a:graphic>
          <a:graphicData uri="http://schemas.openxmlformats.org/drawingml/2006/table">
            <a:tbl>
              <a:tblPr firstRow="1" bandRow="1">
                <a:tableStyleId>{5C22544A-7EE6-4342-B048-85BDC9FD1C3A}</a:tableStyleId>
              </a:tblPr>
              <a:tblGrid>
                <a:gridCol w="4480560"/>
                <a:gridCol w="1508760"/>
                <a:gridCol w="1508760"/>
                <a:gridCol w="1554480"/>
                <a:gridCol w="1920240"/>
              </a:tblGrid>
              <a:tr h="489857">
                <a:tc>
                  <a:txBody>
                    <a:bodyPr/>
                    <a:lstStyle/>
                    <a:p>
                      <a:pPr>
                        <a:defRPr sz="1900" b="1">
                          <a:solidFill>
                            <a:srgbClr val="FFFFFF"/>
                          </a:solidFill>
                          <a:latin typeface="Noto Sans CJK KR"/>
                        </a:defRPr>
                      </a:pPr>
                      <a:r>
                        <a:t>정책</a:t>
                      </a:r>
                    </a:p>
                  </a:txBody>
                  <a:tcPr marL="109728" marR="73152" anchor="ctr">
                    <a:solidFill>
                      <a:srgbClr val="345F49"/>
                    </a:solidFill>
                  </a:tcPr>
                </a:tc>
                <a:tc>
                  <a:txBody>
                    <a:bodyPr/>
                    <a:lstStyle/>
                    <a:p>
                      <a:pPr>
                        <a:defRPr sz="1900" b="1">
                          <a:solidFill>
                            <a:srgbClr val="FFFFFF"/>
                          </a:solidFill>
                          <a:latin typeface="Noto Sans CJK KR"/>
                        </a:defRPr>
                      </a:pPr>
                      <a:r>
                        <a:t>대상</a:t>
                      </a:r>
                    </a:p>
                  </a:txBody>
                  <a:tcPr marL="109728" marR="73152" anchor="ctr">
                    <a:solidFill>
                      <a:srgbClr val="345F49"/>
                    </a:solidFill>
                  </a:tcPr>
                </a:tc>
                <a:tc>
                  <a:txBody>
                    <a:bodyPr/>
                    <a:lstStyle/>
                    <a:p>
                      <a:pPr>
                        <a:defRPr sz="1900" b="1">
                          <a:solidFill>
                            <a:srgbClr val="FFFFFF"/>
                          </a:solidFill>
                          <a:latin typeface="Noto Sans CJK KR"/>
                        </a:defRPr>
                      </a:pPr>
                      <a:r>
                        <a:t>초기 투자</a:t>
                      </a:r>
                    </a:p>
                  </a:txBody>
                  <a:tcPr marL="109728" marR="73152" anchor="ctr">
                    <a:solidFill>
                      <a:srgbClr val="345F49"/>
                    </a:solidFill>
                  </a:tcPr>
                </a:tc>
                <a:tc>
                  <a:txBody>
                    <a:bodyPr/>
                    <a:lstStyle/>
                    <a:p>
                      <a:pPr>
                        <a:defRPr sz="1900" b="1">
                          <a:solidFill>
                            <a:srgbClr val="FFFFFF"/>
                          </a:solidFill>
                          <a:latin typeface="Noto Sans CJK KR"/>
                        </a:defRPr>
                      </a:pPr>
                      <a:r>
                        <a:t>준비 기간</a:t>
                      </a:r>
                    </a:p>
                  </a:txBody>
                  <a:tcPr marL="109728" marR="73152" anchor="ctr">
                    <a:solidFill>
                      <a:srgbClr val="345F49"/>
                    </a:solidFill>
                  </a:tcPr>
                </a:tc>
                <a:tc>
                  <a:txBody>
                    <a:bodyPr/>
                    <a:lstStyle/>
                    <a:p>
                      <a:pPr>
                        <a:defRPr sz="1900" b="1">
                          <a:solidFill>
                            <a:srgbClr val="FFFFFF"/>
                          </a:solidFill>
                          <a:latin typeface="Noto Sans CJK KR"/>
                        </a:defRPr>
                      </a:pPr>
                      <a:r>
                        <a:t>연간 유지비</a:t>
                      </a:r>
                    </a:p>
                  </a:txBody>
                  <a:tcPr marL="109728" marR="73152" anchor="ctr">
                    <a:solidFill>
                      <a:srgbClr val="345F49"/>
                    </a:solidFill>
                  </a:tcPr>
                </a:tc>
              </a:tr>
              <a:tr h="489857">
                <a:tc>
                  <a:txBody>
                    <a:bodyPr/>
                    <a:lstStyle/>
                    <a:p>
                      <a:pPr>
                        <a:defRPr sz="1900" b="0">
                          <a:solidFill>
                            <a:srgbClr val="213C33"/>
                          </a:solidFill>
                          <a:latin typeface="Noto Sans CJK KR"/>
                        </a:defRPr>
                      </a:pPr>
                      <a:r>
                        <a:t>빈집 정비와 주거 지원</a:t>
                      </a:r>
                    </a:p>
                  </a:txBody>
                  <a:tcPr marL="109728" marR="73152" anchor="ctr">
                    <a:solidFill>
                      <a:srgbClr val="E5EAD8"/>
                    </a:solidFill>
                  </a:tcPr>
                </a:tc>
                <a:tc>
                  <a:txBody>
                    <a:bodyPr/>
                    <a:lstStyle/>
                    <a:p>
                      <a:pPr>
                        <a:defRPr sz="1900" b="0">
                          <a:solidFill>
                            <a:srgbClr val="213C33"/>
                          </a:solidFill>
                          <a:latin typeface="Noto Sans CJK KR"/>
                        </a:defRPr>
                      </a:pPr>
                      <a:r>
                        <a:t>생활권</a:t>
                      </a:r>
                    </a:p>
                  </a:txBody>
                  <a:tcPr marL="109728" marR="73152" anchor="ctr">
                    <a:solidFill>
                      <a:srgbClr val="E5EAD8"/>
                    </a:solidFill>
                  </a:tcPr>
                </a:tc>
                <a:tc>
                  <a:txBody>
                    <a:bodyPr/>
                    <a:lstStyle/>
                    <a:p>
                      <a:pPr>
                        <a:defRPr sz="1900" b="0">
                          <a:solidFill>
                            <a:srgbClr val="213C33"/>
                          </a:solidFill>
                          <a:latin typeface="Noto Sans CJK KR"/>
                        </a:defRPr>
                      </a:pPr>
                      <a:r>
                        <a:t>22억</a:t>
                      </a:r>
                    </a:p>
                  </a:txBody>
                  <a:tcPr marL="109728" marR="73152" anchor="ctr">
                    <a:solidFill>
                      <a:srgbClr val="E5EAD8"/>
                    </a:solidFill>
                  </a:tcPr>
                </a:tc>
                <a:tc>
                  <a:txBody>
                    <a:bodyPr/>
                    <a:lstStyle/>
                    <a:p>
                      <a:pPr>
                        <a:defRPr sz="1900" b="0">
                          <a:solidFill>
                            <a:srgbClr val="213C33"/>
                          </a:solidFill>
                          <a:latin typeface="Noto Sans CJK KR"/>
                        </a:defRPr>
                      </a:pPr>
                      <a:r>
                        <a:t>2년</a:t>
                      </a:r>
                    </a:p>
                  </a:txBody>
                  <a:tcPr marL="109728" marR="73152" anchor="ctr">
                    <a:solidFill>
                      <a:srgbClr val="E5EAD8"/>
                    </a:solidFill>
                  </a:tcPr>
                </a:tc>
                <a:tc>
                  <a:txBody>
                    <a:bodyPr/>
                    <a:lstStyle/>
                    <a:p>
                      <a:pPr>
                        <a:defRPr sz="1900" b="0">
                          <a:solidFill>
                            <a:srgbClr val="213C33"/>
                          </a:solidFill>
                          <a:latin typeface="Noto Sans CJK KR"/>
                        </a:defRPr>
                      </a:pPr>
                      <a:r>
                        <a:t>1억</a:t>
                      </a:r>
                    </a:p>
                  </a:txBody>
                  <a:tcPr marL="109728" marR="73152" anchor="ctr">
                    <a:solidFill>
                      <a:srgbClr val="E5EAD8"/>
                    </a:solidFill>
                  </a:tcPr>
                </a:tc>
              </a:tr>
              <a:tr h="489857">
                <a:tc>
                  <a:txBody>
                    <a:bodyPr/>
                    <a:lstStyle/>
                    <a:p>
                      <a:pPr>
                        <a:defRPr sz="1900" b="0">
                          <a:solidFill>
                            <a:srgbClr val="213C33"/>
                          </a:solidFill>
                          <a:latin typeface="Noto Sans CJK KR"/>
                        </a:defRPr>
                      </a:pPr>
                      <a:r>
                        <a:t>지역 일자리·직업 교육</a:t>
                      </a:r>
                    </a:p>
                  </a:txBody>
                  <a:tcPr marL="109728" marR="73152" anchor="ctr">
                    <a:solidFill>
                      <a:srgbClr val="F6F4E9"/>
                    </a:solidFill>
                  </a:tcPr>
                </a:tc>
                <a:tc>
                  <a:txBody>
                    <a:bodyPr/>
                    <a:lstStyle/>
                    <a:p>
                      <a:pPr>
                        <a:defRPr sz="1900" b="0">
                          <a:solidFill>
                            <a:srgbClr val="213C33"/>
                          </a:solidFill>
                          <a:latin typeface="Noto Sans CJK KR"/>
                        </a:defRPr>
                      </a:pPr>
                      <a:r>
                        <a:t>생활권</a:t>
                      </a:r>
                    </a:p>
                  </a:txBody>
                  <a:tcPr marL="109728" marR="73152" anchor="ctr">
                    <a:solidFill>
                      <a:srgbClr val="F6F4E9"/>
                    </a:solidFill>
                  </a:tcPr>
                </a:tc>
                <a:tc>
                  <a:txBody>
                    <a:bodyPr/>
                    <a:lstStyle/>
                    <a:p>
                      <a:pPr>
                        <a:defRPr sz="1900" b="0">
                          <a:solidFill>
                            <a:srgbClr val="213C33"/>
                          </a:solidFill>
                          <a:latin typeface="Noto Sans CJK KR"/>
                        </a:defRPr>
                      </a:pPr>
                      <a:r>
                        <a:t>18억</a:t>
                      </a:r>
                    </a:p>
                  </a:txBody>
                  <a:tcPr marL="109728" marR="73152" anchor="ctr">
                    <a:solidFill>
                      <a:srgbClr val="F6F4E9"/>
                    </a:solidFill>
                  </a:tcPr>
                </a:tc>
                <a:tc>
                  <a:txBody>
                    <a:bodyPr/>
                    <a:lstStyle/>
                    <a:p>
                      <a:pPr>
                        <a:defRPr sz="1900" b="0">
                          <a:solidFill>
                            <a:srgbClr val="213C33"/>
                          </a:solidFill>
                          <a:latin typeface="Noto Sans CJK KR"/>
                        </a:defRPr>
                      </a:pPr>
                      <a:r>
                        <a:t>1년</a:t>
                      </a:r>
                    </a:p>
                  </a:txBody>
                  <a:tcPr marL="109728" marR="73152" anchor="ctr">
                    <a:solidFill>
                      <a:srgbClr val="F6F4E9"/>
                    </a:solidFill>
                  </a:tcPr>
                </a:tc>
                <a:tc>
                  <a:txBody>
                    <a:bodyPr/>
                    <a:lstStyle/>
                    <a:p>
                      <a:pPr>
                        <a:defRPr sz="1900" b="0">
                          <a:solidFill>
                            <a:srgbClr val="213C33"/>
                          </a:solidFill>
                          <a:latin typeface="Noto Sans CJK KR"/>
                        </a:defRPr>
                      </a:pPr>
                      <a:r>
                        <a:t>2억</a:t>
                      </a:r>
                    </a:p>
                  </a:txBody>
                  <a:tcPr marL="109728" marR="73152" anchor="ctr">
                    <a:solidFill>
                      <a:srgbClr val="F6F4E9"/>
                    </a:solidFill>
                  </a:tcPr>
                </a:tc>
              </a:tr>
              <a:tr h="489857">
                <a:tc>
                  <a:txBody>
                    <a:bodyPr/>
                    <a:lstStyle/>
                    <a:p>
                      <a:pPr>
                        <a:defRPr sz="1900" b="0">
                          <a:solidFill>
                            <a:srgbClr val="213C33"/>
                          </a:solidFill>
                          <a:latin typeface="Noto Sans CJK KR"/>
                        </a:defRPr>
                      </a:pPr>
                      <a:r>
                        <a:t>복합 돌봄센터 전환</a:t>
                      </a:r>
                    </a:p>
                  </a:txBody>
                  <a:tcPr marL="109728" marR="73152" anchor="ctr">
                    <a:solidFill>
                      <a:srgbClr val="E5EAD8"/>
                    </a:solidFill>
                  </a:tcPr>
                </a:tc>
                <a:tc>
                  <a:txBody>
                    <a:bodyPr/>
                    <a:lstStyle/>
                    <a:p>
                      <a:pPr>
                        <a:defRPr sz="1900" b="0">
                          <a:solidFill>
                            <a:srgbClr val="213C33"/>
                          </a:solidFill>
                          <a:latin typeface="Noto Sans CJK KR"/>
                        </a:defRPr>
                      </a:pPr>
                      <a:r>
                        <a:t>생활권</a:t>
                      </a:r>
                    </a:p>
                  </a:txBody>
                  <a:tcPr marL="109728" marR="73152" anchor="ctr">
                    <a:solidFill>
                      <a:srgbClr val="E5EAD8"/>
                    </a:solidFill>
                  </a:tcPr>
                </a:tc>
                <a:tc>
                  <a:txBody>
                    <a:bodyPr/>
                    <a:lstStyle/>
                    <a:p>
                      <a:pPr>
                        <a:defRPr sz="1900" b="0">
                          <a:solidFill>
                            <a:srgbClr val="213C33"/>
                          </a:solidFill>
                          <a:latin typeface="Noto Sans CJK KR"/>
                        </a:defRPr>
                      </a:pPr>
                      <a:r>
                        <a:t>24억</a:t>
                      </a:r>
                    </a:p>
                  </a:txBody>
                  <a:tcPr marL="109728" marR="73152" anchor="ctr">
                    <a:solidFill>
                      <a:srgbClr val="E5EAD8"/>
                    </a:solidFill>
                  </a:tcPr>
                </a:tc>
                <a:tc>
                  <a:txBody>
                    <a:bodyPr/>
                    <a:lstStyle/>
                    <a:p>
                      <a:pPr>
                        <a:defRPr sz="1900" b="0">
                          <a:solidFill>
                            <a:srgbClr val="213C33"/>
                          </a:solidFill>
                          <a:latin typeface="Noto Sans CJK KR"/>
                        </a:defRPr>
                      </a:pPr>
                      <a:r>
                        <a:t>1년</a:t>
                      </a:r>
                    </a:p>
                  </a:txBody>
                  <a:tcPr marL="109728" marR="73152" anchor="ctr">
                    <a:solidFill>
                      <a:srgbClr val="E5EAD8"/>
                    </a:solidFill>
                  </a:tcPr>
                </a:tc>
                <a:tc>
                  <a:txBody>
                    <a:bodyPr/>
                    <a:lstStyle/>
                    <a:p>
                      <a:pPr>
                        <a:defRPr sz="1900" b="0">
                          <a:solidFill>
                            <a:srgbClr val="213C33"/>
                          </a:solidFill>
                          <a:latin typeface="Noto Sans CJK KR"/>
                        </a:defRPr>
                      </a:pPr>
                      <a:r>
                        <a:t>3억</a:t>
                      </a:r>
                    </a:p>
                  </a:txBody>
                  <a:tcPr marL="109728" marR="73152" anchor="ctr">
                    <a:solidFill>
                      <a:srgbClr val="E5EAD8"/>
                    </a:solidFill>
                  </a:tcPr>
                </a:tc>
              </a:tr>
              <a:tr h="489857">
                <a:tc>
                  <a:txBody>
                    <a:bodyPr/>
                    <a:lstStyle/>
                    <a:p>
                      <a:pPr>
                        <a:defRPr sz="1900" b="0">
                          <a:solidFill>
                            <a:srgbClr val="213C33"/>
                          </a:solidFill>
                          <a:latin typeface="Noto Sans CJK KR"/>
                        </a:defRPr>
                      </a:pPr>
                      <a:r>
                        <a:t>의료·이동 연결</a:t>
                      </a:r>
                    </a:p>
                  </a:txBody>
                  <a:tcPr marL="109728" marR="73152" anchor="ctr">
                    <a:solidFill>
                      <a:srgbClr val="F6F4E9"/>
                    </a:solidFill>
                  </a:tcPr>
                </a:tc>
                <a:tc>
                  <a:txBody>
                    <a:bodyPr/>
                    <a:lstStyle/>
                    <a:p>
                      <a:pPr>
                        <a:defRPr sz="1900" b="0">
                          <a:solidFill>
                            <a:srgbClr val="213C33"/>
                          </a:solidFill>
                          <a:latin typeface="Noto Sans CJK KR"/>
                        </a:defRPr>
                      </a:pPr>
                      <a:r>
                        <a:t>도시 전체</a:t>
                      </a:r>
                    </a:p>
                  </a:txBody>
                  <a:tcPr marL="109728" marR="73152" anchor="ctr">
                    <a:solidFill>
                      <a:srgbClr val="F6F4E9"/>
                    </a:solidFill>
                  </a:tcPr>
                </a:tc>
                <a:tc>
                  <a:txBody>
                    <a:bodyPr/>
                    <a:lstStyle/>
                    <a:p>
                      <a:pPr>
                        <a:defRPr sz="1900" b="0">
                          <a:solidFill>
                            <a:srgbClr val="213C33"/>
                          </a:solidFill>
                          <a:latin typeface="Noto Sans CJK KR"/>
                        </a:defRPr>
                      </a:pPr>
                      <a:r>
                        <a:t>10억</a:t>
                      </a:r>
                    </a:p>
                  </a:txBody>
                  <a:tcPr marL="109728" marR="73152" anchor="ctr">
                    <a:solidFill>
                      <a:srgbClr val="F6F4E9"/>
                    </a:solidFill>
                  </a:tcPr>
                </a:tc>
                <a:tc>
                  <a:txBody>
                    <a:bodyPr/>
                    <a:lstStyle/>
                    <a:p>
                      <a:pPr>
                        <a:defRPr sz="1900" b="0">
                          <a:solidFill>
                            <a:srgbClr val="213C33"/>
                          </a:solidFill>
                          <a:latin typeface="Noto Sans CJK KR"/>
                        </a:defRPr>
                      </a:pPr>
                      <a:r>
                        <a:t>즉시</a:t>
                      </a:r>
                    </a:p>
                  </a:txBody>
                  <a:tcPr marL="109728" marR="73152" anchor="ctr">
                    <a:solidFill>
                      <a:srgbClr val="F6F4E9"/>
                    </a:solidFill>
                  </a:tcPr>
                </a:tc>
                <a:tc>
                  <a:txBody>
                    <a:bodyPr/>
                    <a:lstStyle/>
                    <a:p>
                      <a:pPr>
                        <a:defRPr sz="1900" b="0">
                          <a:solidFill>
                            <a:srgbClr val="213C33"/>
                          </a:solidFill>
                          <a:latin typeface="Noto Sans CJK KR"/>
                        </a:defRPr>
                      </a:pPr>
                      <a:r>
                        <a:t>2억</a:t>
                      </a:r>
                    </a:p>
                  </a:txBody>
                  <a:tcPr marL="109728" marR="73152" anchor="ctr">
                    <a:solidFill>
                      <a:srgbClr val="F6F4E9"/>
                    </a:solidFill>
                  </a:tcPr>
                </a:tc>
              </a:tr>
              <a:tr h="489857">
                <a:tc>
                  <a:txBody>
                    <a:bodyPr/>
                    <a:lstStyle/>
                    <a:p>
                      <a:pPr>
                        <a:defRPr sz="1900" b="0">
                          <a:solidFill>
                            <a:srgbClr val="213C33"/>
                          </a:solidFill>
                          <a:latin typeface="Noto Sans CJK KR"/>
                        </a:defRPr>
                      </a:pPr>
                      <a:r>
                        <a:t>이주민 정착·지역사회 연결</a:t>
                      </a:r>
                    </a:p>
                  </a:txBody>
                  <a:tcPr marL="109728" marR="73152" anchor="ctr">
                    <a:solidFill>
                      <a:srgbClr val="E5EAD8"/>
                    </a:solidFill>
                  </a:tcPr>
                </a:tc>
                <a:tc>
                  <a:txBody>
                    <a:bodyPr/>
                    <a:lstStyle/>
                    <a:p>
                      <a:pPr>
                        <a:defRPr sz="1900" b="0">
                          <a:solidFill>
                            <a:srgbClr val="213C33"/>
                          </a:solidFill>
                          <a:latin typeface="Noto Sans CJK KR"/>
                        </a:defRPr>
                      </a:pPr>
                      <a:r>
                        <a:t>도시 전체</a:t>
                      </a:r>
                    </a:p>
                  </a:txBody>
                  <a:tcPr marL="109728" marR="73152" anchor="ctr">
                    <a:solidFill>
                      <a:srgbClr val="E5EAD8"/>
                    </a:solidFill>
                  </a:tcPr>
                </a:tc>
                <a:tc>
                  <a:txBody>
                    <a:bodyPr/>
                    <a:lstStyle/>
                    <a:p>
                      <a:pPr>
                        <a:defRPr sz="1900" b="0">
                          <a:solidFill>
                            <a:srgbClr val="213C33"/>
                          </a:solidFill>
                          <a:latin typeface="Noto Sans CJK KR"/>
                        </a:defRPr>
                      </a:pPr>
                      <a:r>
                        <a:t>8억</a:t>
                      </a:r>
                    </a:p>
                  </a:txBody>
                  <a:tcPr marL="109728" marR="73152" anchor="ctr">
                    <a:solidFill>
                      <a:srgbClr val="E5EAD8"/>
                    </a:solidFill>
                  </a:tcPr>
                </a:tc>
                <a:tc>
                  <a:txBody>
                    <a:bodyPr/>
                    <a:lstStyle/>
                    <a:p>
                      <a:pPr>
                        <a:defRPr sz="1900" b="0">
                          <a:solidFill>
                            <a:srgbClr val="213C33"/>
                          </a:solidFill>
                          <a:latin typeface="Noto Sans CJK KR"/>
                        </a:defRPr>
                      </a:pPr>
                      <a:r>
                        <a:t>즉시</a:t>
                      </a:r>
                    </a:p>
                  </a:txBody>
                  <a:tcPr marL="109728" marR="73152" anchor="ctr">
                    <a:solidFill>
                      <a:srgbClr val="E5EAD8"/>
                    </a:solidFill>
                  </a:tcPr>
                </a:tc>
                <a:tc>
                  <a:txBody>
                    <a:bodyPr/>
                    <a:lstStyle/>
                    <a:p>
                      <a:pPr>
                        <a:defRPr sz="1900" b="0">
                          <a:solidFill>
                            <a:srgbClr val="213C33"/>
                          </a:solidFill>
                          <a:latin typeface="Noto Sans CJK KR"/>
                        </a:defRPr>
                      </a:pPr>
                      <a:r>
                        <a:t>1억</a:t>
                      </a:r>
                    </a:p>
                  </a:txBody>
                  <a:tcPr marL="109728" marR="73152" anchor="ctr">
                    <a:solidFill>
                      <a:srgbClr val="E5EAD8"/>
                    </a:solidFill>
                  </a:tcPr>
                </a:tc>
              </a:tr>
              <a:tr h="489858">
                <a:tc>
                  <a:txBody>
                    <a:bodyPr/>
                    <a:lstStyle/>
                    <a:p>
                      <a:pPr>
                        <a:defRPr sz="1900" b="0">
                          <a:solidFill>
                            <a:srgbClr val="213C33"/>
                          </a:solidFill>
                          <a:latin typeface="Noto Sans CJK KR"/>
                        </a:defRPr>
                      </a:pPr>
                      <a:r>
                        <a:t>저이용 시설 재편</a:t>
                      </a:r>
                    </a:p>
                  </a:txBody>
                  <a:tcPr marL="109728" marR="73152" anchor="ctr">
                    <a:solidFill>
                      <a:srgbClr val="F6F4E9"/>
                    </a:solidFill>
                  </a:tcPr>
                </a:tc>
                <a:tc>
                  <a:txBody>
                    <a:bodyPr/>
                    <a:lstStyle/>
                    <a:p>
                      <a:pPr>
                        <a:defRPr sz="1900" b="0">
                          <a:solidFill>
                            <a:srgbClr val="213C33"/>
                          </a:solidFill>
                          <a:latin typeface="Noto Sans CJK KR"/>
                        </a:defRPr>
                      </a:pPr>
                      <a:r>
                        <a:t>생활권</a:t>
                      </a:r>
                    </a:p>
                  </a:txBody>
                  <a:tcPr marL="109728" marR="73152" anchor="ctr">
                    <a:solidFill>
                      <a:srgbClr val="F6F4E9"/>
                    </a:solidFill>
                  </a:tcPr>
                </a:tc>
                <a:tc>
                  <a:txBody>
                    <a:bodyPr/>
                    <a:lstStyle/>
                    <a:p>
                      <a:pPr>
                        <a:defRPr sz="1900" b="0">
                          <a:solidFill>
                            <a:srgbClr val="213C33"/>
                          </a:solidFill>
                          <a:latin typeface="Noto Sans CJK KR"/>
                        </a:defRPr>
                      </a:pPr>
                      <a:r>
                        <a:t>16억</a:t>
                      </a:r>
                    </a:p>
                  </a:txBody>
                  <a:tcPr marL="109728" marR="73152" anchor="ctr">
                    <a:solidFill>
                      <a:srgbClr val="F6F4E9"/>
                    </a:solidFill>
                  </a:tcPr>
                </a:tc>
                <a:tc>
                  <a:txBody>
                    <a:bodyPr/>
                    <a:lstStyle/>
                    <a:p>
                      <a:pPr>
                        <a:defRPr sz="1900" b="0">
                          <a:solidFill>
                            <a:srgbClr val="213C33"/>
                          </a:solidFill>
                          <a:latin typeface="Noto Sans CJK KR"/>
                        </a:defRPr>
                      </a:pPr>
                      <a:r>
                        <a:t>1년</a:t>
                      </a:r>
                    </a:p>
                  </a:txBody>
                  <a:tcPr marL="109728" marR="73152" anchor="ctr">
                    <a:solidFill>
                      <a:srgbClr val="F6F4E9"/>
                    </a:solidFill>
                  </a:tcPr>
                </a:tc>
                <a:tc>
                  <a:txBody>
                    <a:bodyPr/>
                    <a:lstStyle/>
                    <a:p>
                      <a:pPr>
                        <a:defRPr sz="1900" b="0">
                          <a:solidFill>
                            <a:srgbClr val="213C33"/>
                          </a:solidFill>
                          <a:latin typeface="Noto Sans CJK KR"/>
                        </a:defRPr>
                      </a:pPr>
                      <a:r>
                        <a:t>2억 절감</a:t>
                      </a:r>
                    </a:p>
                  </a:txBody>
                  <a:tcPr marL="109728" marR="73152" anchor="ctr">
                    <a:solidFill>
                      <a:srgbClr val="F6F4E9"/>
                    </a:solidFill>
                  </a:tcPr>
                </a:tc>
              </a:tr>
            </a:tbl>
          </a:graphicData>
        </a:graphic>
      </p:graphicFrame>
      <p:sp>
        <p:nvSpPr>
          <p:cNvPr id="9" name="TextBox 8"/>
          <p:cNvSpPr txBox="1"/>
          <p:nvPr/>
        </p:nvSpPr>
        <p:spPr>
          <a:xfrm>
            <a:off x="731520" y="5486400"/>
            <a:ext cx="10789920" cy="822960"/>
          </a:xfrm>
          <a:prstGeom prst="rect">
            <a:avLst/>
          </a:prstGeom>
          <a:noFill/>
        </p:spPr>
        <p:txBody>
          <a:bodyPr wrap="square" lIns="27432" rIns="27432" tIns="0" bIns="0">
            <a:spAutoFit/>
          </a:bodyPr>
          <a:lstStyle/>
          <a:p>
            <a:pPr>
              <a:spcAft>
                <a:spcPts val="700"/>
              </a:spcAft>
              <a:defRPr sz="2000" b="0">
                <a:solidFill>
                  <a:srgbClr val="213C33"/>
                </a:solidFill>
                <a:latin typeface="Noto Sans CJK KR"/>
              </a:defRPr>
            </a:pPr>
            <a:r>
              <a:t>건설은 동시에 1개 · 중지 가능한 운영 정책도 투자비는 반환되지 않음</a:t>
            </a:r>
          </a:p>
          <a:p>
            <a:pPr>
              <a:spcAft>
                <a:spcPts val="700"/>
              </a:spcAft>
              <a:defRPr sz="2000" b="0">
                <a:solidFill>
                  <a:srgbClr val="213C33"/>
                </a:solidFill>
                <a:latin typeface="Noto Sans CJK KR"/>
              </a:defRPr>
            </a:pPr>
            <a:r>
              <a:t>효과는 수요·인력·접근성·주거·일자리 조건에 따라 달라집니다.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7432" rIns="27432" tIns="0" bIns="0">
            <a:spAutoFit/>
          </a:bodyPr>
          <a:lstStyle/>
          <a:p>
            <a:pPr>
              <a:spcAft>
                <a:spcPts val="700"/>
              </a:spcAft>
              <a:defRPr sz="1200" b="1">
                <a:solidFill>
                  <a:srgbClr val="637666"/>
                </a:solidFill>
                <a:latin typeface="Noto Sans CJK KR"/>
              </a:defRPr>
            </a:pPr>
            <a:r>
              <a:t>DAON CITY  /  통합사회2  /  참고 02 · 교사용</a:t>
            </a:r>
          </a:p>
        </p:txBody>
      </p:sp>
      <p:sp>
        <p:nvSpPr>
          <p:cNvPr id="4" name="TextBox 3"/>
          <p:cNvSpPr txBox="1"/>
          <p:nvPr/>
        </p:nvSpPr>
        <p:spPr>
          <a:xfrm>
            <a:off x="502920" y="804672"/>
            <a:ext cx="11155680" cy="868680"/>
          </a:xfrm>
          <a:prstGeom prst="rect">
            <a:avLst/>
          </a:prstGeom>
          <a:noFill/>
        </p:spPr>
        <p:txBody>
          <a:bodyPr wrap="square" lIns="27432" rIns="27432" tIns="0" bIns="0">
            <a:spAutoFit/>
          </a:bodyPr>
          <a:lstStyle/>
          <a:p>
            <a:pPr>
              <a:spcAft>
                <a:spcPts val="700"/>
              </a:spcAft>
              <a:defRPr sz="3200" b="1">
                <a:solidFill>
                  <a:srgbClr val="213C33"/>
                </a:solidFill>
                <a:latin typeface="Noto Sans CJK KR"/>
              </a:defRPr>
            </a:pPr>
            <a:r>
              <a:t>자료의 근거와 모형의 한계</a:t>
            </a:r>
          </a:p>
        </p:txBody>
      </p:sp>
      <p:sp>
        <p:nvSpPr>
          <p:cNvPr id="5" name="Rectangle 4"/>
          <p:cNvSpPr/>
          <p:nvPr/>
        </p:nvSpPr>
        <p:spPr>
          <a:xfrm>
            <a:off x="530352" y="6446520"/>
            <a:ext cx="11109960" cy="10972"/>
          </a:xfrm>
          <a:prstGeom prst="rect">
            <a:avLst/>
          </a:prstGeom>
          <a:solidFill>
            <a:srgbClr val="CCD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47104"/>
            <a:ext cx="10515600" cy="228600"/>
          </a:xfrm>
          <a:prstGeom prst="rect">
            <a:avLst/>
          </a:prstGeom>
          <a:noFill/>
        </p:spPr>
        <p:txBody>
          <a:bodyPr wrap="square" lIns="27432" rIns="27432" tIns="0" bIns="0">
            <a:spAutoFit/>
          </a:bodyPr>
          <a:lstStyle/>
          <a:p>
            <a:pPr>
              <a:spcAft>
                <a:spcPts val="700"/>
              </a:spcAft>
              <a:defRPr sz="1000" b="0">
                <a:solidFill>
                  <a:srgbClr val="637666"/>
                </a:solidFill>
                <a:latin typeface="Noto Sans CJK KR"/>
              </a:defRPr>
            </a:pPr>
            <a:r>
              <a:t>인구 문제와 해결 방안 · 교육용 도시 운영 모형</a:t>
            </a:r>
          </a:p>
        </p:txBody>
      </p:sp>
      <p:sp>
        <p:nvSpPr>
          <p:cNvPr id="7" name="TextBox 6"/>
          <p:cNvSpPr txBox="1"/>
          <p:nvPr/>
        </p:nvSpPr>
        <p:spPr>
          <a:xfrm>
            <a:off x="11082528" y="6510528"/>
            <a:ext cx="548640" cy="274320"/>
          </a:xfrm>
          <a:prstGeom prst="rect">
            <a:avLst/>
          </a:prstGeom>
          <a:noFill/>
        </p:spPr>
        <p:txBody>
          <a:bodyPr wrap="square" lIns="27432" rIns="27432" tIns="0" bIns="0">
            <a:spAutoFit/>
          </a:bodyPr>
          <a:lstStyle/>
          <a:p>
            <a:pPr>
              <a:spcAft>
                <a:spcPts val="700"/>
              </a:spcAft>
              <a:defRPr sz="1200" b="0">
                <a:solidFill>
                  <a:srgbClr val="637666"/>
                </a:solidFill>
                <a:latin typeface="Noto Sans CJK KR"/>
              </a:defRPr>
            </a:pPr>
            <a:r>
              <a:t>17</a:t>
            </a:r>
          </a:p>
        </p:txBody>
      </p:sp>
      <p:sp>
        <p:nvSpPr>
          <p:cNvPr id="8" name="TextBox 7"/>
          <p:cNvSpPr txBox="1"/>
          <p:nvPr/>
        </p:nvSpPr>
        <p:spPr>
          <a:xfrm>
            <a:off x="685800" y="1783080"/>
            <a:ext cx="10789920" cy="4206240"/>
          </a:xfrm>
          <a:prstGeom prst="rect">
            <a:avLst/>
          </a:prstGeom>
          <a:noFill/>
        </p:spPr>
        <p:txBody>
          <a:bodyPr wrap="square" lIns="27432" rIns="27432" tIns="0" bIns="0">
            <a:spAutoFit/>
          </a:bodyPr>
          <a:lstStyle/>
          <a:p>
            <a:pPr>
              <a:spcAft>
                <a:spcPts val="700"/>
              </a:spcAft>
              <a:defRPr sz="2200" b="0">
                <a:solidFill>
                  <a:srgbClr val="213C33"/>
                </a:solidFill>
                <a:latin typeface="Noto Sans CJK KR"/>
              </a:defRPr>
            </a:pPr>
            <a:r>
              <a:t>확인한 자료</a:t>
            </a:r>
          </a:p>
          <a:p>
            <a:pPr>
              <a:spcAft>
                <a:spcPts val="700"/>
              </a:spcAft>
              <a:defRPr sz="2200" b="0">
                <a:solidFill>
                  <a:srgbClr val="213C33"/>
                </a:solidFill>
                <a:latin typeface="Noto Sans CJK KR"/>
              </a:defRPr>
            </a:pPr>
            <a:r>
              <a:t>• 제공된 사진의 인구 문제·해결 방안, 실제 게임 규칙과 검증 기록</a:t>
            </a:r>
          </a:p>
          <a:p>
            <a:pPr>
              <a:spcAft>
                <a:spcPts val="700"/>
              </a:spcAft>
              <a:defRPr sz="2200" b="0">
                <a:solidFill>
                  <a:srgbClr val="213C33"/>
                </a:solidFill>
                <a:latin typeface="Noto Sans CJK KR"/>
              </a:defRPr>
            </a:pPr>
            <a:r>
              <a:t>• 정책표는 게임 데이터, 비교 차트는 검증용 두 조의 실행 기록</a:t>
            </a:r>
          </a:p>
          <a:p>
            <a:pPr>
              <a:spcAft>
                <a:spcPts val="700"/>
              </a:spcAft>
              <a:defRPr sz="2200" b="0">
                <a:solidFill>
                  <a:srgbClr val="213C33"/>
                </a:solidFill>
                <a:latin typeface="Noto Sans CJK KR"/>
              </a:defRPr>
            </a:pPr>
          </a:p>
          <a:p>
            <a:pPr>
              <a:spcAft>
                <a:spcPts val="700"/>
              </a:spcAft>
              <a:defRPr sz="2200" b="0">
                <a:solidFill>
                  <a:srgbClr val="213C33"/>
                </a:solidFill>
                <a:latin typeface="Noto Sans CJK KR"/>
              </a:defRPr>
            </a:pPr>
            <a:r>
              <a:t>모형의 한계</a:t>
            </a:r>
          </a:p>
          <a:p>
            <a:pPr>
              <a:spcAft>
                <a:spcPts val="700"/>
              </a:spcAft>
              <a:defRPr sz="2200" b="0">
                <a:solidFill>
                  <a:srgbClr val="213C33"/>
                </a:solidFill>
                <a:latin typeface="Noto Sans CJK KR"/>
              </a:defRPr>
            </a:pPr>
            <a:r>
              <a:t>• 실제 출산 결정의 복합성, 식량·국가 인구 정책 등을 모두 구현하지 않음</a:t>
            </a:r>
          </a:p>
          <a:p>
            <a:pPr>
              <a:spcAft>
                <a:spcPts val="700"/>
              </a:spcAft>
              <a:defRPr sz="2200" b="0">
                <a:solidFill>
                  <a:srgbClr val="213C33"/>
                </a:solidFill>
                <a:latin typeface="Noto Sans CJK KR"/>
              </a:defRPr>
            </a:pPr>
            <a:r>
              <a:t>• 정책 수치는 실제 정책 효과의 예측값이 아님</a:t>
            </a:r>
          </a:p>
          <a:p>
            <a:pPr>
              <a:spcAft>
                <a:spcPts val="700"/>
              </a:spcAft>
              <a:defRPr sz="2200" b="0">
                <a:solidFill>
                  <a:srgbClr val="213C33"/>
                </a:solidFill>
                <a:latin typeface="Noto Sans CJK KR"/>
              </a:defRPr>
            </a:pPr>
            <a:r>
              <a:t>• 고령 주민·이주민을 문제나 자원으로만 보지 않기</a:t>
            </a:r>
          </a:p>
        </p:txBody>
      </p:sp>
      <p:sp>
        <p:nvSpPr>
          <p:cNvPr id="9" name="TextBox 8"/>
          <p:cNvSpPr txBox="1"/>
          <p:nvPr/>
        </p:nvSpPr>
        <p:spPr>
          <a:xfrm>
            <a:off x="731520" y="5806440"/>
            <a:ext cx="10698480" cy="502920"/>
          </a:xfrm>
          <a:prstGeom prst="rect">
            <a:avLst/>
          </a:prstGeom>
          <a:noFill/>
        </p:spPr>
        <p:txBody>
          <a:bodyPr wrap="square" lIns="27432" rIns="27432" tIns="0" bIns="0">
            <a:spAutoFit/>
          </a:bodyPr>
          <a:lstStyle/>
          <a:p>
            <a:pPr>
              <a:spcAft>
                <a:spcPts val="700"/>
              </a:spcAft>
              <a:defRPr sz="1600" b="0">
                <a:solidFill>
                  <a:srgbClr val="637666"/>
                </a:solidFill>
                <a:latin typeface="Noto Sans CJK KR"/>
              </a:defRPr>
            </a:pPr>
            <a:r>
              <a:t>첨부 교과서 PDF는 용량 제한으로 원문 미대조 · 해당 쪽 확인 후 개정 필요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같은 출발, 서로 다른 도시 — 통합사회2 공개수업</dc:title>
  <dc:subject>인구 문제와 해결 방안: 문제 제시·학습 정보·도시 운영·결과 비교</dc:subject>
  <dc:creator>다온시 수업 자료</dc:creator>
  <cp:keywords/>
  <dc:description>사진 내용과 게임 규칙 기반. 첨부 교과서 PDF 원문 미대조.</dc:description>
  <cp:lastModifiedBy>Steve Canny</cp:lastModifiedBy>
  <cp:revision>1</cp:revision>
  <dcterms:created xsi:type="dcterms:W3CDTF">2013-01-27T09:14:16Z</dcterms:created>
  <dcterms:modified xsi:type="dcterms:W3CDTF">2013-01-27T09:15:58Z</dcterms:modified>
  <cp:category/>
</cp:coreProperties>
</file>